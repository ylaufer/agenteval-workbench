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autoAdjust="0"/>
  </p:normalViewPr>
  <p:slideViewPr>
    <p:cSldViewPr snapToGrid="0" snapToObjects="1">
      <p:cViewPr>
        <p:scale>
          <a:sx n="92" d="100"/>
          <a:sy n="92" d="100"/>
        </p:scale>
        <p:origin x="307" y="-14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95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talk about how QA changes when we move from traditional software testing — and even from classic AI output testing — into agentic AI.,,My main idea is simple: in agentic systems, QA can no longer focus only on the final answer. We also need to evaluate whether the system behaved correctly across the journey.,,That means asking different questions. Not just “Was the response right?” but also: Was the action allowed? Did the system take a reasonable path? Did it use the right context? Did it act safely on the outside world? And how do we know what really happened?,,This talk is meant for a broad QA audience. So I’ll keep the model practical and accessible, but I’ll also connect it to real testing challenges and current tooling.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long time, a lot of AI testing focused on prompts and responses. That still matters, but agentic systems push us beyond that.,,These systems do more than generate text. They may decide, route, call tools, use memory, interact with APIs, trigger side effects, and emit traces across a multi-step execution.,,So the testing target gets bigger. We are no longer testing only the final answer. We are testing behavior across a system.,,And that changes the kind of evidence QA needs. In some cases, a string comparison is still useful. But in many cases, we now need traces, trajectories, tool-call evidence, session-level behavior, policy checks, and runtime signals.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testing, I want to align on a very simple system view.,,An agentic AI system has two big parts. First, there is a Build &amp; Adaptation Lifecycle. This is where the system is shaped — model choice, prompts, policies, tool definitions, memory design, retrieval corpus, and evaluation loops.,,Second, there is the runtime. This is where the agent actually operates. It has to respect a policy boundary, reason and orchestrate what to do next, use memory and context, act through tools or external systems, and finally produce a response or some external effect.,,And then across the runtime, there is telemetry, observability, and continuous evaluation. That is what lets us understand what happened, measure behavior, detect issues, and improve the system.,,So this is the first mindset shift: an agentic AI system is not just a model. It is a system with build-time decisions, runtime behavior, and observable signals.</a:t>
            </a:r>
            <a:br>
              <a:rPr lang="en-US" dirty="0"/>
            </a:br>
            <a:r>
              <a:rPr lang="en-US" b="1" dirty="0"/>
              <a:t>Observe</a:t>
            </a:r>
            <a:br>
              <a:rPr lang="en-US" dirty="0"/>
            </a:br>
            <a:r>
              <a:rPr lang="en-US" dirty="0"/>
              <a:t>collect traces, logs, metrics, sessions, failures </a:t>
            </a:r>
          </a:p>
          <a:p>
            <a:r>
              <a:rPr lang="en-US" b="1" dirty="0"/>
              <a:t>Evaluate</a:t>
            </a:r>
            <a:br>
              <a:rPr lang="en-US" dirty="0"/>
            </a:br>
            <a:r>
              <a:rPr lang="en-US" dirty="0"/>
              <a:t>analyze quality, policy compliance, tool use, latency, cost, conformance </a:t>
            </a:r>
          </a:p>
          <a:p>
            <a:r>
              <a:rPr lang="en-US" b="1" dirty="0"/>
              <a:t>Learn</a:t>
            </a:r>
            <a:br>
              <a:rPr lang="en-US" dirty="0"/>
            </a:br>
            <a:r>
              <a:rPr lang="en-US" dirty="0"/>
              <a:t>identify patterns, regressions, weak points, risky behaviors </a:t>
            </a:r>
          </a:p>
          <a:p>
            <a:r>
              <a:rPr lang="en-US" b="1" dirty="0"/>
              <a:t>Improve</a:t>
            </a:r>
            <a:br>
              <a:rPr lang="en-US" dirty="0"/>
            </a:br>
            <a:r>
              <a:rPr lang="en-US" dirty="0"/>
              <a:t>update prompts, policies, tool definitions, memory rules, datasets, evals, workflows </a:t>
            </a:r>
          </a:p>
          <a:p>
            <a:r>
              <a:rPr lang="en-US" dirty="0"/>
              <a:t>That is mostly done by:</a:t>
            </a:r>
          </a:p>
          <a:p>
            <a:r>
              <a:rPr lang="en-US" dirty="0"/>
              <a:t>QA / QE </a:t>
            </a:r>
          </a:p>
          <a:p>
            <a:r>
              <a:rPr lang="en-US" dirty="0"/>
              <a:t>AI evaluators </a:t>
            </a:r>
          </a:p>
          <a:p>
            <a:r>
              <a:rPr lang="en-US" dirty="0"/>
              <a:t>developers / AI engineers </a:t>
            </a:r>
          </a:p>
          <a:p>
            <a:r>
              <a:rPr lang="en-US" dirty="0"/>
              <a:t>SRE / observability </a:t>
            </a:r>
          </a:p>
          <a:p>
            <a:r>
              <a:rPr lang="en-US" dirty="0"/>
              <a:t>AppSec / Red Team in some domains </a:t>
            </a:r>
          </a:p>
          <a:p>
            <a:r>
              <a:rPr lang="en-US" dirty="0"/>
              <a:t>product / domain teams, depending on the issue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framework I want to use for the rest of the talk.,,Instead of asking QA teams to memorize every architecture pattern, I think there’s a simpler way to read an agentic system — through five practical questions.,,First: Can the system do this? That’s the Policy Boundary domain.,,Second: Did it choose a reasonable path? That’s Reasoning and Orchestration.,,Third: Did it act correctly on the outside world? That’s the Action Layer.,,Fourth: Did it use the right context? That’s Memory and Context.,,And fifth: How do we know what really happened? That’s Telemetry, Observability, and Continuous Evaluation.,,What I like about this model is that it works for both beginner and advanced audiences. It gives junior QAs a clear structure, and it gives more senior people a way to organize risks, evidence, ownership, tools, and automation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repeated pattern I’ll use for the rest of the talk.,,For each domain, I’ll ask the same six questions.,,First: what kind of risk appears in that part of the system?,,Second: what kind of evidence do we need to test it?,,Third: what testing oracle makes sense? Because in agentic systems, the oracle is not always a fixed expected string.,,Fourth: what roles usually get involved? In many cases, QA works alongside Red Team, AppSec, SRE, data governance, or platform engineering.,,Fifth: what tools exist in the market today?,,And sixth: where does a framework like AgentEval fit — not as the answer to everything, but as an example of how QA can already work on parts of this 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questions are about permission and path.,,Policy Boundary is where we ask whether the system should act at all. This includes permissions, guardrails, safety, compliance, PII protection, prompt injection handling, and whether a request stays inside acceptable boundaries.,,The main risks here are unsafe outputs, policy violations, leakage of secrets or personal data, and actions the system should never have taken.,,The evidence here is usually adversarial datasets, policy cases, abuse scenarios, or logs showing what was blocked or allowed. The oracles are often policy-based rather than exact-output-based.,,Typical roles here include QA, AppSec, Red Team, and Trust &amp; Safety.,,Then we move to Reasoning and Orchestration. Here the key question is not just whether the final answer looks good, but whether the system took a reasonable route. Did it plan well? Retry correctly? Recover from errors? Stop when it should? Delegate when appropriate?,,The evidence here is usually trajectories, traces, step sequences, or tool-call paths. The oracle may be a reasonable path, or conformance to an expected class of behavior, not necessarily one exact route.,,This is one of the strongest areas to connect with an evaluation framework like AgentEval, because it naturally aligns with traces, rubrics, workflow scoring, and structured reasoning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two questions are about action and context.,,In the Action Layer, the system is no longer just thinking. It is interacting with tools, APIs, external systems, maybe MCP-style interfaces, and possibly triggering real side effects.,,The QA risks here are very familiar in one sense, but more dynamic in another. Wrong tool selection, bad arguments, duplicated actions, unsafe side effects, broken contracts, retries that create duplicate operations, or actions outside the agent’s intended scope.,,The evidence here comes from tool-call traces, API contracts, side-effect validation, and integration logs. The oracles may be contract-based, tool-call-based, or side-effect-based.,,This is where classic API and integration QA becomes very relevant again — but now in an agentic setting.,,Then we get to Memory and Context, which I think is one of the most important and least mature areas.,,Here we care about whether the system used the right context — and only the right context. That includes short-term conversation memory, session memory, long-term memory, and retrieval-backed context.,,The risks are things like wrong recall, stale context, forgetting what should be remembered, remembering what should be forgotten, cross-user contamination, and privacy or isolation failures.,,The evidence often comes from multi-turn conversations, session traces, retrieval traces, and synthetic scenarios where facts change over time.,,The oracle here is usually behavioral and session-based, not a single-turn expected answer. This is also where the market is still evolving, so it’s a good area to present honestly as a growing frontier for QA.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question is the evidence backbone of the whole model.,,In agentic systems, telemetry is not just for debugging. It becomes part of QA.,,We need traces, spans, logs, metrics, latency, cost, session visibility, and conformance signals to understand what really happened.,,This matters because complex systems fail in ways that are hard to see from the final answer alone. A response might look acceptable, but the path may have been inefficient, unsafe, expensive, or fragile.,,Telemetry gives us the ability to reconstruct journeys, analyze behavior, detect loops, understand cost and latency, and eventually move toward continuous evaluation and observability-driven testing.,,This is also one of the strongest future evolution areas for a framework like AgentEval: moving from structured trace-aware evaluation into telemetry-aware conformance and continuous quality gates.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thing here is that complexity does not invalidate the model. The same five QA questions still apply.,,But complexity makes every domain harder.,,First, there is multi-agent coordination. Once agents delegate to subagents, hand off work, or operate in supervisor patterns, QA has to think about delegation correctness, role boundaries, context transfer, duplicated work, and coordination failures.,,Second, there are real-world integrations. Once agents act on external systems, the risks become more operational. Failures can have side effects, contract issues, recovery problems, or human impact.,,Third, there is non-determinism. Behavior may vary even with similar inputs. So the oracle must often move from exact matching to evidence-based, policy-based, or trajectory-based evaluation.,,And fourth, there is the observability burden. The more distributed and agentic the system becomes, the harder it is to correlate traces, reconstruct causality, and understand what happened across a session or journey.,,So the key message of this slide is: the model still works, but the burden of testing increases in every domain.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to leave you with one message, it would be this: QA in agentic AI is not just about validating final answers.,,It is about evaluating whether the system behaved correctly across policies, decisions, tools, context, memory, and observable execution.,,That also means QA becomes more multidisciplinary. Depending on the domain, we may collaborate with AppSec, Red Team, SRE, platform teams, data governance, or conversation specialists.,,But that is not a threat to QA. It is an expansion of QA.,,So a practical way to start is this: whenever you look at an agentic system, ask the same five questions. Can it do this? Did it choose a reasonable path? Did it act correctly on the outside world? Did it use the right context? And how do we know what really happened?,,If QA can answer those five questions with the right evidence and the right oracles, then QA has a very real and very important place in the future of agentic AI.,,Suggested closing sentence: In agentic AI, testing the answer is no longer enough. We need to test the behavior.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4" name="Text 2"/>
          <p:cNvSpPr/>
          <p:nvPr/>
        </p:nvSpPr>
        <p:spPr>
          <a:xfrm>
            <a:off x="822960" y="685800"/>
            <a:ext cx="9875520" cy="502920"/>
          </a:xfrm>
          <a:prstGeom prst="rect">
            <a:avLst/>
          </a:prstGeom>
          <a:noFill/>
          <a:ln/>
        </p:spPr>
        <p:txBody>
          <a:bodyPr wrap="square" lIns="0" tIns="0" rIns="0" bIns="0" rtlCol="0" anchor="ctr"/>
          <a:lstStyle/>
          <a:p>
            <a:pPr marL="0" indent="0">
              <a:buNone/>
            </a:pPr>
            <a:r>
              <a:rPr lang="en-US" sz="4200" b="1" dirty="0">
                <a:solidFill>
                  <a:srgbClr val="071A44"/>
                </a:solidFill>
                <a:latin typeface="Aptos Display" pitchFamily="34" charset="0"/>
                <a:ea typeface="Aptos Display" pitchFamily="34" charset="-122"/>
                <a:cs typeface="Aptos Display" pitchFamily="34" charset="-120"/>
              </a:rPr>
              <a:t>QA in Agentic AI</a:t>
            </a:r>
            <a:endParaRPr lang="en-US" sz="4200" dirty="0"/>
          </a:p>
        </p:txBody>
      </p:sp>
      <p:sp>
        <p:nvSpPr>
          <p:cNvPr id="5" name="Text 3"/>
          <p:cNvSpPr/>
          <p:nvPr/>
        </p:nvSpPr>
        <p:spPr>
          <a:xfrm>
            <a:off x="868680" y="1325880"/>
            <a:ext cx="8686800" cy="329184"/>
          </a:xfrm>
          <a:prstGeom prst="rect">
            <a:avLst/>
          </a:prstGeom>
          <a:noFill/>
          <a:ln/>
        </p:spPr>
        <p:txBody>
          <a:bodyPr wrap="square" lIns="0" tIns="0" rIns="0" bIns="0" rtlCol="0" anchor="ctr"/>
          <a:lstStyle/>
          <a:p>
            <a:pPr marL="0" indent="0">
              <a:buNone/>
            </a:pPr>
            <a:r>
              <a:rPr lang="en-US" sz="2100" i="1" dirty="0">
                <a:solidFill>
                  <a:srgbClr val="64748B"/>
                </a:solidFill>
              </a:rPr>
              <a:t>From output testing to behavioral evaluation</a:t>
            </a:r>
            <a:endParaRPr lang="en-US" sz="2100" dirty="0"/>
          </a:p>
        </p:txBody>
      </p:sp>
      <p:sp>
        <p:nvSpPr>
          <p:cNvPr id="6" name="Shape 4"/>
          <p:cNvSpPr/>
          <p:nvPr/>
        </p:nvSpPr>
        <p:spPr>
          <a:xfrm>
            <a:off x="868680" y="2057400"/>
            <a:ext cx="10515600" cy="2606040"/>
          </a:xfrm>
          <a:prstGeom prst="roundRect">
            <a:avLst>
              <a:gd name="adj" fmla="val 4211"/>
            </a:avLst>
          </a:prstGeom>
          <a:solidFill>
            <a:srgbClr val="FFFFFF"/>
          </a:solidFill>
          <a:ln w="12700">
            <a:solidFill>
              <a:srgbClr val="D7E3F3"/>
            </a:solidFill>
            <a:prstDash val="solid"/>
          </a:ln>
        </p:spPr>
        <p:txBody>
          <a:bodyPr/>
          <a:lstStyle/>
          <a:p>
            <a:endParaRPr lang="en-US"/>
          </a:p>
        </p:txBody>
      </p:sp>
      <p:sp>
        <p:nvSpPr>
          <p:cNvPr id="7" name="Text 5"/>
          <p:cNvSpPr/>
          <p:nvPr/>
        </p:nvSpPr>
        <p:spPr>
          <a:xfrm>
            <a:off x="1234440" y="2377440"/>
            <a:ext cx="2011680" cy="274320"/>
          </a:xfrm>
          <a:prstGeom prst="rect">
            <a:avLst/>
          </a:prstGeom>
          <a:noFill/>
          <a:ln/>
        </p:spPr>
        <p:txBody>
          <a:bodyPr wrap="square" lIns="0" tIns="0" rIns="0" bIns="0" rtlCol="0" anchor="ctr"/>
          <a:lstStyle/>
          <a:p>
            <a:pPr marL="0" indent="0">
              <a:buNone/>
            </a:pPr>
            <a:r>
              <a:rPr lang="en-US" sz="1800" b="1" dirty="0">
                <a:solidFill>
                  <a:srgbClr val="155EEF"/>
                </a:solidFill>
              </a:rPr>
              <a:t>The shift</a:t>
            </a:r>
            <a:endParaRPr lang="en-US" sz="1800" dirty="0"/>
          </a:p>
        </p:txBody>
      </p:sp>
      <p:sp>
        <p:nvSpPr>
          <p:cNvPr id="8" name="Text 6"/>
          <p:cNvSpPr/>
          <p:nvPr/>
        </p:nvSpPr>
        <p:spPr>
          <a:xfrm>
            <a:off x="1234440" y="2788920"/>
            <a:ext cx="4023360" cy="365760"/>
          </a:xfrm>
          <a:prstGeom prst="rect">
            <a:avLst/>
          </a:prstGeom>
          <a:noFill/>
          <a:ln/>
        </p:spPr>
        <p:txBody>
          <a:bodyPr wrap="square" lIns="0" tIns="0" rIns="0" bIns="0" rtlCol="0" anchor="ctr"/>
          <a:lstStyle/>
          <a:p>
            <a:pPr marL="0" indent="0">
              <a:buNone/>
            </a:pPr>
            <a:r>
              <a:rPr lang="en-US" sz="2000" b="1" dirty="0">
                <a:solidFill>
                  <a:srgbClr val="0F172A"/>
                </a:solidFill>
              </a:rPr>
              <a:t>From checking whether the final answer looks right…</a:t>
            </a:r>
            <a:endParaRPr lang="en-US" sz="2000" dirty="0"/>
          </a:p>
        </p:txBody>
      </p:sp>
      <p:sp>
        <p:nvSpPr>
          <p:cNvPr id="9" name="Shape 7"/>
          <p:cNvSpPr/>
          <p:nvPr/>
        </p:nvSpPr>
        <p:spPr>
          <a:xfrm>
            <a:off x="5303520" y="3063240"/>
            <a:ext cx="1280160" cy="0"/>
          </a:xfrm>
          <a:prstGeom prst="line">
            <a:avLst/>
          </a:prstGeom>
          <a:noFill/>
          <a:ln w="12700">
            <a:solidFill>
              <a:srgbClr val="F97316"/>
            </a:solidFill>
            <a:prstDash val="solid"/>
            <a:headEnd type="none"/>
            <a:tailEnd type="triangle"/>
          </a:ln>
        </p:spPr>
        <p:txBody>
          <a:bodyPr/>
          <a:lstStyle/>
          <a:p>
            <a:endParaRPr lang="en-US"/>
          </a:p>
        </p:txBody>
      </p:sp>
      <p:sp>
        <p:nvSpPr>
          <p:cNvPr id="10" name="Text 8"/>
          <p:cNvSpPr/>
          <p:nvPr/>
        </p:nvSpPr>
        <p:spPr>
          <a:xfrm>
            <a:off x="6720840" y="2788920"/>
            <a:ext cx="3931920" cy="530352"/>
          </a:xfrm>
          <a:prstGeom prst="rect">
            <a:avLst/>
          </a:prstGeom>
          <a:noFill/>
          <a:ln/>
        </p:spPr>
        <p:txBody>
          <a:bodyPr wrap="square" lIns="0" tIns="0" rIns="0" bIns="0" rtlCol="0" anchor="ctr"/>
          <a:lstStyle/>
          <a:p>
            <a:pPr marL="0" indent="0">
              <a:buNone/>
            </a:pPr>
            <a:r>
              <a:rPr lang="en-US" sz="2000" b="1" dirty="0">
                <a:solidFill>
                  <a:srgbClr val="0F172A"/>
                </a:solidFill>
              </a:rPr>
              <a:t>…to evaluating whether the system behaved correctly.</a:t>
            </a:r>
            <a:endParaRPr lang="en-US" sz="2000" dirty="0"/>
          </a:p>
        </p:txBody>
      </p:sp>
      <p:sp>
        <p:nvSpPr>
          <p:cNvPr id="11" name="Text 9"/>
          <p:cNvSpPr/>
          <p:nvPr/>
        </p:nvSpPr>
        <p:spPr>
          <a:xfrm>
            <a:off x="6720840" y="3520440"/>
            <a:ext cx="4114800" cy="274320"/>
          </a:xfrm>
          <a:prstGeom prst="rect">
            <a:avLst/>
          </a:prstGeom>
          <a:noFill/>
          <a:ln/>
        </p:spPr>
        <p:txBody>
          <a:bodyPr wrap="square" lIns="0" tIns="0" rIns="0" bIns="0" rtlCol="0" anchor="ctr"/>
          <a:lstStyle/>
          <a:p>
            <a:pPr marL="0" indent="0">
              <a:buNone/>
            </a:pPr>
            <a:r>
              <a:rPr lang="en-US" sz="1500" b="1" dirty="0">
                <a:solidFill>
                  <a:srgbClr val="6D28D9"/>
                </a:solidFill>
              </a:rPr>
              <a:t>Policies • decisions • tools • context • evidence</a:t>
            </a:r>
            <a:endParaRPr lang="en-US" sz="1500" dirty="0"/>
          </a:p>
        </p:txBody>
      </p:sp>
      <p:sp>
        <p:nvSpPr>
          <p:cNvPr id="12" name="Shape 10"/>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13" name="Text 11"/>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In agentic AI, testing the answer is no longer enough. We need to test the behavior.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Why Agentic AI changes QA</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The testing target gets bigger than a single response</a:t>
            </a:r>
            <a:endParaRPr lang="en-US" sz="1250" dirty="0"/>
          </a:p>
        </p:txBody>
      </p:sp>
      <p:sp>
        <p:nvSpPr>
          <p:cNvPr id="6" name="Shape 4"/>
          <p:cNvSpPr/>
          <p:nvPr/>
        </p:nvSpPr>
        <p:spPr>
          <a:xfrm>
            <a:off x="777240" y="1417320"/>
            <a:ext cx="5074920" cy="1234440"/>
          </a:xfrm>
          <a:prstGeom prst="roundRect">
            <a:avLst>
              <a:gd name="adj" fmla="val 8889"/>
            </a:avLst>
          </a:prstGeom>
          <a:solidFill>
            <a:srgbClr val="FFFFFF"/>
          </a:solidFill>
          <a:ln w="12700">
            <a:solidFill>
              <a:srgbClr val="155EEF"/>
            </a:solidFill>
            <a:prstDash val="solid"/>
          </a:ln>
        </p:spPr>
        <p:txBody>
          <a:bodyPr/>
          <a:lstStyle/>
          <a:p>
            <a:endParaRPr lang="en-US"/>
          </a:p>
        </p:txBody>
      </p:sp>
      <p:sp>
        <p:nvSpPr>
          <p:cNvPr id="7" name="Shape 5"/>
          <p:cNvSpPr/>
          <p:nvPr/>
        </p:nvSpPr>
        <p:spPr>
          <a:xfrm>
            <a:off x="1005840" y="1627632"/>
            <a:ext cx="310896" cy="310896"/>
          </a:xfrm>
          <a:prstGeom prst="ellipse">
            <a:avLst/>
          </a:prstGeom>
          <a:solidFill>
            <a:srgbClr val="155EEF"/>
          </a:solidFill>
          <a:ln w="12700">
            <a:solidFill>
              <a:srgbClr val="155EEF"/>
            </a:solidFill>
            <a:prstDash val="solid"/>
          </a:ln>
        </p:spPr>
        <p:txBody>
          <a:bodyPr/>
          <a:lstStyle/>
          <a:p>
            <a:endParaRPr lang="en-US"/>
          </a:p>
        </p:txBody>
      </p:sp>
      <p:sp>
        <p:nvSpPr>
          <p:cNvPr id="8" name="Text 6"/>
          <p:cNvSpPr/>
          <p:nvPr/>
        </p:nvSpPr>
        <p:spPr>
          <a:xfrm>
            <a:off x="1005840" y="16733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463040" y="1618488"/>
            <a:ext cx="4069080" cy="274320"/>
          </a:xfrm>
          <a:prstGeom prst="rect">
            <a:avLst/>
          </a:prstGeom>
          <a:noFill/>
          <a:ln/>
        </p:spPr>
        <p:txBody>
          <a:bodyPr wrap="square" lIns="0" tIns="0" rIns="0" bIns="0" rtlCol="0" anchor="ctr"/>
          <a:lstStyle/>
          <a:p>
            <a:pPr marL="0" indent="0">
              <a:buNone/>
            </a:pPr>
            <a:r>
              <a:rPr lang="en-US" sz="1800" b="1" dirty="0">
                <a:solidFill>
                  <a:srgbClr val="071A44"/>
                </a:solidFill>
              </a:rPr>
              <a:t>Outputs are not the whole story</a:t>
            </a:r>
            <a:endParaRPr lang="en-US" sz="1800" dirty="0"/>
          </a:p>
        </p:txBody>
      </p:sp>
      <p:sp>
        <p:nvSpPr>
          <p:cNvPr id="10" name="Text 8"/>
          <p:cNvSpPr/>
          <p:nvPr/>
        </p:nvSpPr>
        <p:spPr>
          <a:xfrm>
            <a:off x="1463040" y="2039112"/>
            <a:ext cx="4114800" cy="347472"/>
          </a:xfrm>
          <a:prstGeom prst="rect">
            <a:avLst/>
          </a:prstGeom>
          <a:noFill/>
          <a:ln/>
        </p:spPr>
        <p:txBody>
          <a:bodyPr wrap="square" lIns="0" tIns="0" rIns="0" bIns="0" rtlCol="0" anchor="ctr"/>
          <a:lstStyle/>
          <a:p>
            <a:pPr marL="0" indent="0">
              <a:buNone/>
            </a:pPr>
            <a:r>
              <a:rPr lang="en-US" sz="1350" dirty="0">
                <a:solidFill>
                  <a:srgbClr val="64748B"/>
                </a:solidFill>
              </a:rPr>
              <a:t>A good answer can still hide a bad path.</a:t>
            </a:r>
            <a:endParaRPr lang="en-US" sz="1350" dirty="0"/>
          </a:p>
        </p:txBody>
      </p:sp>
      <p:sp>
        <p:nvSpPr>
          <p:cNvPr id="11" name="Shape 9"/>
          <p:cNvSpPr/>
          <p:nvPr/>
        </p:nvSpPr>
        <p:spPr>
          <a:xfrm>
            <a:off x="6309360" y="1417320"/>
            <a:ext cx="5074920" cy="1234440"/>
          </a:xfrm>
          <a:prstGeom prst="roundRect">
            <a:avLst>
              <a:gd name="adj" fmla="val 8889"/>
            </a:avLst>
          </a:prstGeom>
          <a:solidFill>
            <a:srgbClr val="FFFFFF"/>
          </a:solidFill>
          <a:ln w="12700">
            <a:solidFill>
              <a:srgbClr val="6D28D9"/>
            </a:solidFill>
            <a:prstDash val="solid"/>
          </a:ln>
        </p:spPr>
        <p:txBody>
          <a:bodyPr/>
          <a:lstStyle/>
          <a:p>
            <a:endParaRPr lang="en-US"/>
          </a:p>
        </p:txBody>
      </p:sp>
      <p:sp>
        <p:nvSpPr>
          <p:cNvPr id="12" name="Shape 10"/>
          <p:cNvSpPr/>
          <p:nvPr/>
        </p:nvSpPr>
        <p:spPr>
          <a:xfrm>
            <a:off x="6537960" y="1627632"/>
            <a:ext cx="310896" cy="310896"/>
          </a:xfrm>
          <a:prstGeom prst="ellipse">
            <a:avLst/>
          </a:prstGeom>
          <a:solidFill>
            <a:srgbClr val="6D28D9"/>
          </a:solidFill>
          <a:ln w="12700">
            <a:solidFill>
              <a:srgbClr val="6D28D9"/>
            </a:solidFill>
            <a:prstDash val="solid"/>
          </a:ln>
        </p:spPr>
        <p:txBody>
          <a:bodyPr/>
          <a:lstStyle/>
          <a:p>
            <a:endParaRPr lang="en-US"/>
          </a:p>
        </p:txBody>
      </p:sp>
      <p:sp>
        <p:nvSpPr>
          <p:cNvPr id="13" name="Text 11"/>
          <p:cNvSpPr/>
          <p:nvPr/>
        </p:nvSpPr>
        <p:spPr>
          <a:xfrm>
            <a:off x="6537960" y="16733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4" name="Text 12"/>
          <p:cNvSpPr/>
          <p:nvPr/>
        </p:nvSpPr>
        <p:spPr>
          <a:xfrm>
            <a:off x="6995160" y="1618488"/>
            <a:ext cx="4069080" cy="274320"/>
          </a:xfrm>
          <a:prstGeom prst="rect">
            <a:avLst/>
          </a:prstGeom>
          <a:noFill/>
          <a:ln/>
        </p:spPr>
        <p:txBody>
          <a:bodyPr wrap="square" lIns="0" tIns="0" rIns="0" bIns="0" rtlCol="0" anchor="ctr"/>
          <a:lstStyle/>
          <a:p>
            <a:pPr marL="0" indent="0">
              <a:buNone/>
            </a:pPr>
            <a:r>
              <a:rPr lang="en-US" sz="1800" b="1" dirty="0">
                <a:solidFill>
                  <a:srgbClr val="071A44"/>
                </a:solidFill>
              </a:rPr>
              <a:t>Systems now plan, act, remember, and adapt</a:t>
            </a:r>
            <a:endParaRPr lang="en-US" sz="1800" dirty="0"/>
          </a:p>
        </p:txBody>
      </p:sp>
      <p:sp>
        <p:nvSpPr>
          <p:cNvPr id="15" name="Text 13"/>
          <p:cNvSpPr/>
          <p:nvPr/>
        </p:nvSpPr>
        <p:spPr>
          <a:xfrm>
            <a:off x="6995160" y="2039112"/>
            <a:ext cx="4114800" cy="347472"/>
          </a:xfrm>
          <a:prstGeom prst="rect">
            <a:avLst/>
          </a:prstGeom>
          <a:noFill/>
          <a:ln/>
        </p:spPr>
        <p:txBody>
          <a:bodyPr wrap="square" lIns="0" tIns="0" rIns="0" bIns="0" rtlCol="0" anchor="ctr"/>
          <a:lstStyle/>
          <a:p>
            <a:pPr marL="0" indent="0">
              <a:buNone/>
            </a:pPr>
            <a:r>
              <a:rPr lang="en-US" sz="1350" dirty="0">
                <a:solidFill>
                  <a:srgbClr val="64748B"/>
                </a:solidFill>
              </a:rPr>
              <a:t>The agentic runtime introduces decisions, state, actions and feedback.</a:t>
            </a:r>
            <a:endParaRPr lang="en-US" sz="1350" dirty="0"/>
          </a:p>
        </p:txBody>
      </p:sp>
      <p:sp>
        <p:nvSpPr>
          <p:cNvPr id="16" name="Shape 14"/>
          <p:cNvSpPr/>
          <p:nvPr/>
        </p:nvSpPr>
        <p:spPr>
          <a:xfrm>
            <a:off x="777240" y="3246120"/>
            <a:ext cx="5074920" cy="1234440"/>
          </a:xfrm>
          <a:prstGeom prst="roundRect">
            <a:avLst>
              <a:gd name="adj" fmla="val 8889"/>
            </a:avLst>
          </a:prstGeom>
          <a:solidFill>
            <a:srgbClr val="FFFFFF"/>
          </a:solidFill>
          <a:ln w="12700">
            <a:solidFill>
              <a:srgbClr val="155EEF"/>
            </a:solidFill>
            <a:prstDash val="solid"/>
          </a:ln>
        </p:spPr>
        <p:txBody>
          <a:bodyPr/>
          <a:lstStyle/>
          <a:p>
            <a:endParaRPr lang="en-US"/>
          </a:p>
        </p:txBody>
      </p:sp>
      <p:sp>
        <p:nvSpPr>
          <p:cNvPr id="17" name="Shape 15"/>
          <p:cNvSpPr/>
          <p:nvPr/>
        </p:nvSpPr>
        <p:spPr>
          <a:xfrm>
            <a:off x="1005840" y="3456432"/>
            <a:ext cx="310896" cy="310896"/>
          </a:xfrm>
          <a:prstGeom prst="ellipse">
            <a:avLst/>
          </a:prstGeom>
          <a:solidFill>
            <a:srgbClr val="155EEF"/>
          </a:solidFill>
          <a:ln w="12700">
            <a:solidFill>
              <a:srgbClr val="155EEF"/>
            </a:solidFill>
            <a:prstDash val="solid"/>
          </a:ln>
        </p:spPr>
        <p:txBody>
          <a:bodyPr/>
          <a:lstStyle/>
          <a:p>
            <a:endParaRPr lang="en-US"/>
          </a:p>
        </p:txBody>
      </p:sp>
      <p:sp>
        <p:nvSpPr>
          <p:cNvPr id="18" name="Text 16"/>
          <p:cNvSpPr/>
          <p:nvPr/>
        </p:nvSpPr>
        <p:spPr>
          <a:xfrm>
            <a:off x="1005840" y="35021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9" name="Text 17"/>
          <p:cNvSpPr/>
          <p:nvPr/>
        </p:nvSpPr>
        <p:spPr>
          <a:xfrm>
            <a:off x="1463040" y="3447288"/>
            <a:ext cx="4069080" cy="274320"/>
          </a:xfrm>
          <a:prstGeom prst="rect">
            <a:avLst/>
          </a:prstGeom>
          <a:noFill/>
          <a:ln/>
        </p:spPr>
        <p:txBody>
          <a:bodyPr wrap="square" lIns="0" tIns="0" rIns="0" bIns="0" rtlCol="0" anchor="ctr"/>
          <a:lstStyle/>
          <a:p>
            <a:pPr marL="0" indent="0">
              <a:buNone/>
            </a:pPr>
            <a:r>
              <a:rPr lang="en-US" sz="1800" b="1" dirty="0">
                <a:solidFill>
                  <a:srgbClr val="071A44"/>
                </a:solidFill>
              </a:rPr>
              <a:t>Side effects and external tools increase risk</a:t>
            </a:r>
            <a:endParaRPr lang="en-US" sz="1800" dirty="0"/>
          </a:p>
        </p:txBody>
      </p:sp>
      <p:sp>
        <p:nvSpPr>
          <p:cNvPr id="20" name="Text 18"/>
          <p:cNvSpPr/>
          <p:nvPr/>
        </p:nvSpPr>
        <p:spPr>
          <a:xfrm>
            <a:off x="1463040" y="3867912"/>
            <a:ext cx="4114800" cy="347472"/>
          </a:xfrm>
          <a:prstGeom prst="rect">
            <a:avLst/>
          </a:prstGeom>
          <a:noFill/>
          <a:ln/>
        </p:spPr>
        <p:txBody>
          <a:bodyPr wrap="square" lIns="0" tIns="0" rIns="0" bIns="0" rtlCol="0" anchor="ctr"/>
          <a:lstStyle/>
          <a:p>
            <a:pPr marL="0" indent="0">
              <a:buNone/>
            </a:pPr>
            <a:r>
              <a:rPr lang="en-US" sz="1350" dirty="0">
                <a:solidFill>
                  <a:srgbClr val="64748B"/>
                </a:solidFill>
              </a:rPr>
              <a:t>Errors can create real operational consequences.</a:t>
            </a:r>
            <a:endParaRPr lang="en-US" sz="1350" dirty="0"/>
          </a:p>
        </p:txBody>
      </p:sp>
      <p:sp>
        <p:nvSpPr>
          <p:cNvPr id="21" name="Shape 19"/>
          <p:cNvSpPr/>
          <p:nvPr/>
        </p:nvSpPr>
        <p:spPr>
          <a:xfrm>
            <a:off x="6309360" y="3246120"/>
            <a:ext cx="5074920" cy="1234440"/>
          </a:xfrm>
          <a:prstGeom prst="roundRect">
            <a:avLst>
              <a:gd name="adj" fmla="val 8889"/>
            </a:avLst>
          </a:prstGeom>
          <a:solidFill>
            <a:srgbClr val="FFFFFF"/>
          </a:solidFill>
          <a:ln w="12700">
            <a:solidFill>
              <a:srgbClr val="6D28D9"/>
            </a:solidFill>
            <a:prstDash val="solid"/>
          </a:ln>
        </p:spPr>
        <p:txBody>
          <a:bodyPr/>
          <a:lstStyle/>
          <a:p>
            <a:endParaRPr lang="en-US"/>
          </a:p>
        </p:txBody>
      </p:sp>
      <p:sp>
        <p:nvSpPr>
          <p:cNvPr id="22" name="Shape 20"/>
          <p:cNvSpPr/>
          <p:nvPr/>
        </p:nvSpPr>
        <p:spPr>
          <a:xfrm>
            <a:off x="6537960" y="3456432"/>
            <a:ext cx="310896" cy="310896"/>
          </a:xfrm>
          <a:prstGeom prst="ellipse">
            <a:avLst/>
          </a:prstGeom>
          <a:solidFill>
            <a:srgbClr val="6D28D9"/>
          </a:solidFill>
          <a:ln w="12700">
            <a:solidFill>
              <a:srgbClr val="6D28D9"/>
            </a:solidFill>
            <a:prstDash val="solid"/>
          </a:ln>
        </p:spPr>
        <p:txBody>
          <a:bodyPr/>
          <a:lstStyle/>
          <a:p>
            <a:endParaRPr lang="en-US"/>
          </a:p>
        </p:txBody>
      </p:sp>
      <p:sp>
        <p:nvSpPr>
          <p:cNvPr id="23" name="Text 21"/>
          <p:cNvSpPr/>
          <p:nvPr/>
        </p:nvSpPr>
        <p:spPr>
          <a:xfrm>
            <a:off x="6537960" y="35021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4" name="Text 22"/>
          <p:cNvSpPr/>
          <p:nvPr/>
        </p:nvSpPr>
        <p:spPr>
          <a:xfrm>
            <a:off x="6995160" y="3447288"/>
            <a:ext cx="4069080" cy="274320"/>
          </a:xfrm>
          <a:prstGeom prst="rect">
            <a:avLst/>
          </a:prstGeom>
          <a:noFill/>
          <a:ln/>
        </p:spPr>
        <p:txBody>
          <a:bodyPr wrap="square" lIns="0" tIns="0" rIns="0" bIns="0" rtlCol="0" anchor="ctr"/>
          <a:lstStyle/>
          <a:p>
            <a:pPr marL="0" indent="0">
              <a:buNone/>
            </a:pPr>
            <a:r>
              <a:rPr lang="en-US" sz="1800" b="1" dirty="0">
                <a:solidFill>
                  <a:srgbClr val="071A44"/>
                </a:solidFill>
              </a:rPr>
              <a:t>Telemetry becomes test evidence</a:t>
            </a:r>
            <a:endParaRPr lang="en-US" sz="1800" dirty="0"/>
          </a:p>
        </p:txBody>
      </p:sp>
      <p:sp>
        <p:nvSpPr>
          <p:cNvPr id="25" name="Text 23"/>
          <p:cNvSpPr/>
          <p:nvPr/>
        </p:nvSpPr>
        <p:spPr>
          <a:xfrm>
            <a:off x="6995160" y="3867912"/>
            <a:ext cx="4114800" cy="347472"/>
          </a:xfrm>
          <a:prstGeom prst="rect">
            <a:avLst/>
          </a:prstGeom>
          <a:noFill/>
          <a:ln/>
        </p:spPr>
        <p:txBody>
          <a:bodyPr wrap="square" lIns="0" tIns="0" rIns="0" bIns="0" rtlCol="0" anchor="ctr"/>
          <a:lstStyle/>
          <a:p>
            <a:pPr marL="0" indent="0">
              <a:buNone/>
            </a:pPr>
            <a:r>
              <a:rPr lang="en-US" sz="1350" dirty="0">
                <a:solidFill>
                  <a:srgbClr val="64748B"/>
                </a:solidFill>
              </a:rPr>
              <a:t>Traces and sessions help reconstruct what happened.</a:t>
            </a:r>
            <a:endParaRPr lang="en-US" sz="1350" dirty="0"/>
          </a:p>
        </p:txBody>
      </p:sp>
      <p:sp>
        <p:nvSpPr>
          <p:cNvPr id="26" name="Shape 24"/>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7" name="Text 25"/>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QA moves from output checks to evidence-based behavioral evaluation.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Agentic AI as a System</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How an agentic system is built, runs, and produces outcomes</a:t>
            </a:r>
            <a:endParaRPr lang="en-US" sz="1250" dirty="0"/>
          </a:p>
        </p:txBody>
      </p:sp>
      <p:sp>
        <p:nvSpPr>
          <p:cNvPr id="6" name="Shape 4"/>
          <p:cNvSpPr/>
          <p:nvPr/>
        </p:nvSpPr>
        <p:spPr>
          <a:xfrm>
            <a:off x="594360" y="1024128"/>
            <a:ext cx="9052560" cy="1051560"/>
          </a:xfrm>
          <a:prstGeom prst="roundRect">
            <a:avLst>
              <a:gd name="adj" fmla="val 10435"/>
            </a:avLst>
          </a:prstGeom>
          <a:solidFill>
            <a:srgbClr val="FFFFFF"/>
          </a:solidFill>
          <a:ln w="12700">
            <a:solidFill>
              <a:srgbClr val="6D28D9"/>
            </a:solidFill>
            <a:prstDash val="solid"/>
          </a:ln>
        </p:spPr>
        <p:txBody>
          <a:bodyPr/>
          <a:lstStyle/>
          <a:p>
            <a:endParaRPr lang="en-US"/>
          </a:p>
        </p:txBody>
      </p:sp>
      <p:sp>
        <p:nvSpPr>
          <p:cNvPr id="7" name="Text 5"/>
          <p:cNvSpPr/>
          <p:nvPr/>
        </p:nvSpPr>
        <p:spPr>
          <a:xfrm>
            <a:off x="960120" y="1143000"/>
            <a:ext cx="8183880" cy="228600"/>
          </a:xfrm>
          <a:prstGeom prst="rect">
            <a:avLst/>
          </a:prstGeom>
          <a:noFill/>
          <a:ln/>
        </p:spPr>
        <p:txBody>
          <a:bodyPr wrap="square" lIns="0" tIns="0" rIns="0" bIns="0" rtlCol="0" anchor="ctr"/>
          <a:lstStyle/>
          <a:p>
            <a:pPr marL="0" indent="0" algn="ctr">
              <a:buNone/>
            </a:pPr>
            <a:r>
              <a:rPr lang="en-US" sz="1600" b="1" dirty="0">
                <a:solidFill>
                  <a:srgbClr val="6D28D9"/>
                </a:solidFill>
              </a:rPr>
              <a:t>BUILD &amp; ADAPTATION LIFECYCLE  (not runtime)</a:t>
            </a:r>
            <a:endParaRPr lang="en-US" sz="1600" dirty="0"/>
          </a:p>
        </p:txBody>
      </p:sp>
      <p:sp>
        <p:nvSpPr>
          <p:cNvPr id="8" name="Text 6"/>
          <p:cNvSpPr/>
          <p:nvPr/>
        </p:nvSpPr>
        <p:spPr>
          <a:xfrm>
            <a:off x="86868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Model</a:t>
            </a:r>
            <a:endParaRPr lang="en-US" sz="1020" dirty="0"/>
          </a:p>
          <a:p>
            <a:pPr marL="0" indent="0" algn="ctr">
              <a:buNone/>
            </a:pPr>
            <a:r>
              <a:rPr lang="en-US" sz="1020" b="1" dirty="0">
                <a:solidFill>
                  <a:srgbClr val="0F172A"/>
                </a:solidFill>
              </a:rPr>
              <a:t>choice</a:t>
            </a:r>
            <a:endParaRPr lang="en-US" sz="1020" dirty="0"/>
          </a:p>
        </p:txBody>
      </p:sp>
      <p:sp>
        <p:nvSpPr>
          <p:cNvPr id="9" name="Text 7"/>
          <p:cNvSpPr/>
          <p:nvPr/>
        </p:nvSpPr>
        <p:spPr>
          <a:xfrm>
            <a:off x="210312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Prompts &amp;</a:t>
            </a:r>
            <a:endParaRPr lang="en-US" sz="1020" dirty="0"/>
          </a:p>
          <a:p>
            <a:pPr marL="0" indent="0" algn="ctr">
              <a:buNone/>
            </a:pPr>
            <a:r>
              <a:rPr lang="en-US" sz="1020" b="1" dirty="0">
                <a:solidFill>
                  <a:srgbClr val="0F172A"/>
                </a:solidFill>
              </a:rPr>
              <a:t>instructions</a:t>
            </a:r>
            <a:endParaRPr lang="en-US" sz="1020" dirty="0"/>
          </a:p>
        </p:txBody>
      </p:sp>
      <p:sp>
        <p:nvSpPr>
          <p:cNvPr id="10" name="Shape 8"/>
          <p:cNvSpPr/>
          <p:nvPr/>
        </p:nvSpPr>
        <p:spPr>
          <a:xfrm>
            <a:off x="1965960" y="1417320"/>
            <a:ext cx="0" cy="475488"/>
          </a:xfrm>
          <a:prstGeom prst="line">
            <a:avLst/>
          </a:prstGeom>
          <a:noFill/>
          <a:ln w="12700">
            <a:solidFill>
              <a:srgbClr val="C4B5FD"/>
            </a:solidFill>
            <a:prstDash val="solid"/>
          </a:ln>
        </p:spPr>
        <p:txBody>
          <a:bodyPr/>
          <a:lstStyle/>
          <a:p>
            <a:endParaRPr lang="en-US"/>
          </a:p>
        </p:txBody>
      </p:sp>
      <p:sp>
        <p:nvSpPr>
          <p:cNvPr id="11" name="Text 9"/>
          <p:cNvSpPr/>
          <p:nvPr/>
        </p:nvSpPr>
        <p:spPr>
          <a:xfrm>
            <a:off x="333756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Policies &amp;</a:t>
            </a:r>
            <a:endParaRPr lang="en-US" sz="1020" dirty="0"/>
          </a:p>
          <a:p>
            <a:pPr marL="0" indent="0" algn="ctr">
              <a:buNone/>
            </a:pPr>
            <a:r>
              <a:rPr lang="en-US" sz="1020" b="1" dirty="0">
                <a:solidFill>
                  <a:srgbClr val="0F172A"/>
                </a:solidFill>
              </a:rPr>
              <a:t>guardrails</a:t>
            </a:r>
            <a:endParaRPr lang="en-US" sz="1020" dirty="0"/>
          </a:p>
        </p:txBody>
      </p:sp>
      <p:sp>
        <p:nvSpPr>
          <p:cNvPr id="12" name="Shape 10"/>
          <p:cNvSpPr/>
          <p:nvPr/>
        </p:nvSpPr>
        <p:spPr>
          <a:xfrm>
            <a:off x="3200400" y="1417320"/>
            <a:ext cx="0" cy="475488"/>
          </a:xfrm>
          <a:prstGeom prst="line">
            <a:avLst/>
          </a:prstGeom>
          <a:noFill/>
          <a:ln w="12700">
            <a:solidFill>
              <a:srgbClr val="C4B5FD"/>
            </a:solidFill>
            <a:prstDash val="solid"/>
          </a:ln>
        </p:spPr>
        <p:txBody>
          <a:bodyPr/>
          <a:lstStyle/>
          <a:p>
            <a:endParaRPr lang="en-US"/>
          </a:p>
        </p:txBody>
      </p:sp>
      <p:sp>
        <p:nvSpPr>
          <p:cNvPr id="13" name="Text 11"/>
          <p:cNvSpPr/>
          <p:nvPr/>
        </p:nvSpPr>
        <p:spPr>
          <a:xfrm>
            <a:off x="457200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Tool</a:t>
            </a:r>
            <a:endParaRPr lang="en-US" sz="1020" dirty="0"/>
          </a:p>
          <a:p>
            <a:pPr marL="0" indent="0" algn="ctr">
              <a:buNone/>
            </a:pPr>
            <a:r>
              <a:rPr lang="en-US" sz="1020" b="1" dirty="0">
                <a:solidFill>
                  <a:srgbClr val="0F172A"/>
                </a:solidFill>
              </a:rPr>
              <a:t>definitions</a:t>
            </a:r>
            <a:endParaRPr lang="en-US" sz="1020" dirty="0"/>
          </a:p>
        </p:txBody>
      </p:sp>
      <p:sp>
        <p:nvSpPr>
          <p:cNvPr id="14" name="Shape 12"/>
          <p:cNvSpPr/>
          <p:nvPr/>
        </p:nvSpPr>
        <p:spPr>
          <a:xfrm>
            <a:off x="4434840" y="1417320"/>
            <a:ext cx="0" cy="475488"/>
          </a:xfrm>
          <a:prstGeom prst="line">
            <a:avLst/>
          </a:prstGeom>
          <a:noFill/>
          <a:ln w="12700">
            <a:solidFill>
              <a:srgbClr val="C4B5FD"/>
            </a:solidFill>
            <a:prstDash val="solid"/>
          </a:ln>
        </p:spPr>
        <p:txBody>
          <a:bodyPr/>
          <a:lstStyle/>
          <a:p>
            <a:endParaRPr lang="en-US"/>
          </a:p>
        </p:txBody>
      </p:sp>
      <p:sp>
        <p:nvSpPr>
          <p:cNvPr id="15" name="Text 13"/>
          <p:cNvSpPr/>
          <p:nvPr/>
        </p:nvSpPr>
        <p:spPr>
          <a:xfrm>
            <a:off x="580644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Memory</a:t>
            </a:r>
            <a:endParaRPr lang="en-US" sz="1020" dirty="0"/>
          </a:p>
          <a:p>
            <a:pPr marL="0" indent="0" algn="ctr">
              <a:buNone/>
            </a:pPr>
            <a:r>
              <a:rPr lang="en-US" sz="1020" b="1" dirty="0">
                <a:solidFill>
                  <a:srgbClr val="0F172A"/>
                </a:solidFill>
              </a:rPr>
              <a:t>design</a:t>
            </a:r>
            <a:endParaRPr lang="en-US" sz="1020" dirty="0"/>
          </a:p>
        </p:txBody>
      </p:sp>
      <p:sp>
        <p:nvSpPr>
          <p:cNvPr id="16" name="Shape 14"/>
          <p:cNvSpPr/>
          <p:nvPr/>
        </p:nvSpPr>
        <p:spPr>
          <a:xfrm>
            <a:off x="5669280" y="1417320"/>
            <a:ext cx="0" cy="475488"/>
          </a:xfrm>
          <a:prstGeom prst="line">
            <a:avLst/>
          </a:prstGeom>
          <a:noFill/>
          <a:ln w="12700">
            <a:solidFill>
              <a:srgbClr val="C4B5FD"/>
            </a:solidFill>
            <a:prstDash val="solid"/>
          </a:ln>
        </p:spPr>
        <p:txBody>
          <a:bodyPr/>
          <a:lstStyle/>
          <a:p>
            <a:endParaRPr lang="en-US"/>
          </a:p>
        </p:txBody>
      </p:sp>
      <p:sp>
        <p:nvSpPr>
          <p:cNvPr id="17" name="Text 15"/>
          <p:cNvSpPr/>
          <p:nvPr/>
        </p:nvSpPr>
        <p:spPr>
          <a:xfrm>
            <a:off x="704088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Retrieval</a:t>
            </a:r>
            <a:endParaRPr lang="en-US" sz="1020" dirty="0"/>
          </a:p>
          <a:p>
            <a:pPr marL="0" indent="0" algn="ctr">
              <a:buNone/>
            </a:pPr>
            <a:r>
              <a:rPr lang="en-US" sz="1020" b="1" dirty="0">
                <a:solidFill>
                  <a:srgbClr val="0F172A"/>
                </a:solidFill>
              </a:rPr>
              <a:t>corpus</a:t>
            </a:r>
            <a:endParaRPr lang="en-US" sz="1020" dirty="0"/>
          </a:p>
        </p:txBody>
      </p:sp>
      <p:sp>
        <p:nvSpPr>
          <p:cNvPr id="18" name="Shape 16"/>
          <p:cNvSpPr/>
          <p:nvPr/>
        </p:nvSpPr>
        <p:spPr>
          <a:xfrm>
            <a:off x="6903720" y="1417320"/>
            <a:ext cx="0" cy="475488"/>
          </a:xfrm>
          <a:prstGeom prst="line">
            <a:avLst/>
          </a:prstGeom>
          <a:noFill/>
          <a:ln w="12700">
            <a:solidFill>
              <a:srgbClr val="C4B5FD"/>
            </a:solidFill>
            <a:prstDash val="solid"/>
          </a:ln>
        </p:spPr>
        <p:txBody>
          <a:bodyPr/>
          <a:lstStyle/>
          <a:p>
            <a:endParaRPr lang="en-US"/>
          </a:p>
        </p:txBody>
      </p:sp>
      <p:sp>
        <p:nvSpPr>
          <p:cNvPr id="19" name="Text 17"/>
          <p:cNvSpPr/>
          <p:nvPr/>
        </p:nvSpPr>
        <p:spPr>
          <a:xfrm>
            <a:off x="8275320" y="1481328"/>
            <a:ext cx="960120" cy="347472"/>
          </a:xfrm>
          <a:prstGeom prst="rect">
            <a:avLst/>
          </a:prstGeom>
          <a:noFill/>
          <a:ln/>
        </p:spPr>
        <p:txBody>
          <a:bodyPr wrap="square" lIns="0" tIns="0" rIns="0" bIns="0" rtlCol="0" anchor="ctr"/>
          <a:lstStyle/>
          <a:p>
            <a:pPr marL="0" indent="0" algn="ctr">
              <a:buNone/>
            </a:pPr>
            <a:r>
              <a:rPr lang="en-US" sz="1020" b="1" dirty="0">
                <a:solidFill>
                  <a:srgbClr val="0F172A"/>
                </a:solidFill>
              </a:rPr>
              <a:t>Evaluation</a:t>
            </a:r>
            <a:endParaRPr lang="en-US" sz="1020" dirty="0"/>
          </a:p>
          <a:p>
            <a:pPr marL="0" indent="0" algn="ctr">
              <a:buNone/>
            </a:pPr>
            <a:r>
              <a:rPr lang="en-US" sz="1020" b="1" dirty="0">
                <a:solidFill>
                  <a:srgbClr val="0F172A"/>
                </a:solidFill>
              </a:rPr>
              <a:t>loops</a:t>
            </a:r>
            <a:endParaRPr lang="en-US" sz="1020" dirty="0"/>
          </a:p>
        </p:txBody>
      </p:sp>
      <p:sp>
        <p:nvSpPr>
          <p:cNvPr id="20" name="Shape 18"/>
          <p:cNvSpPr/>
          <p:nvPr/>
        </p:nvSpPr>
        <p:spPr>
          <a:xfrm>
            <a:off x="8138160" y="1417320"/>
            <a:ext cx="0" cy="475488"/>
          </a:xfrm>
          <a:prstGeom prst="line">
            <a:avLst/>
          </a:prstGeom>
          <a:noFill/>
          <a:ln w="12700">
            <a:solidFill>
              <a:srgbClr val="C4B5FD"/>
            </a:solidFill>
            <a:prstDash val="solid"/>
          </a:ln>
        </p:spPr>
        <p:txBody>
          <a:bodyPr/>
          <a:lstStyle/>
          <a:p>
            <a:endParaRPr lang="en-US"/>
          </a:p>
        </p:txBody>
      </p:sp>
      <p:sp>
        <p:nvSpPr>
          <p:cNvPr id="21" name="Shape 19"/>
          <p:cNvSpPr/>
          <p:nvPr/>
        </p:nvSpPr>
        <p:spPr>
          <a:xfrm>
            <a:off x="5120640" y="2121408"/>
            <a:ext cx="0" cy="365760"/>
          </a:xfrm>
          <a:prstGeom prst="line">
            <a:avLst/>
          </a:prstGeom>
          <a:noFill/>
          <a:ln w="12700">
            <a:solidFill>
              <a:srgbClr val="6D28D9"/>
            </a:solidFill>
            <a:prstDash val="solid"/>
            <a:headEnd type="none"/>
            <a:tailEnd type="triangle"/>
          </a:ln>
        </p:spPr>
        <p:txBody>
          <a:bodyPr/>
          <a:lstStyle/>
          <a:p>
            <a:endParaRPr lang="en-US"/>
          </a:p>
        </p:txBody>
      </p:sp>
      <p:sp>
        <p:nvSpPr>
          <p:cNvPr id="22" name="Text 20"/>
          <p:cNvSpPr/>
          <p:nvPr/>
        </p:nvSpPr>
        <p:spPr>
          <a:xfrm>
            <a:off x="5349240" y="2212848"/>
            <a:ext cx="1645920" cy="164592"/>
          </a:xfrm>
          <a:prstGeom prst="rect">
            <a:avLst/>
          </a:prstGeom>
          <a:noFill/>
          <a:ln/>
        </p:spPr>
        <p:txBody>
          <a:bodyPr wrap="square" lIns="0" tIns="0" rIns="0" bIns="0" rtlCol="0" anchor="ctr"/>
          <a:lstStyle/>
          <a:p>
            <a:pPr marL="0" indent="0">
              <a:buNone/>
            </a:pPr>
            <a:r>
              <a:rPr lang="en-US" sz="1100" b="1" dirty="0">
                <a:solidFill>
                  <a:srgbClr val="6D28D9"/>
                </a:solidFill>
              </a:rPr>
              <a:t>Shapes the system</a:t>
            </a:r>
            <a:endParaRPr lang="en-US" sz="1100" dirty="0"/>
          </a:p>
        </p:txBody>
      </p:sp>
      <p:sp>
        <p:nvSpPr>
          <p:cNvPr id="23" name="Shape 21"/>
          <p:cNvSpPr/>
          <p:nvPr/>
        </p:nvSpPr>
        <p:spPr>
          <a:xfrm>
            <a:off x="594360" y="2578608"/>
            <a:ext cx="9052560" cy="2487168"/>
          </a:xfrm>
          <a:prstGeom prst="roundRect">
            <a:avLst>
              <a:gd name="adj" fmla="val 4412"/>
            </a:avLst>
          </a:prstGeom>
          <a:solidFill>
            <a:srgbClr val="FFFFFF"/>
          </a:solidFill>
          <a:ln w="12700">
            <a:solidFill>
              <a:srgbClr val="155EEF"/>
            </a:solidFill>
            <a:prstDash val="solid"/>
          </a:ln>
        </p:spPr>
        <p:txBody>
          <a:bodyPr/>
          <a:lstStyle/>
          <a:p>
            <a:endParaRPr lang="en-US"/>
          </a:p>
        </p:txBody>
      </p:sp>
      <p:sp>
        <p:nvSpPr>
          <p:cNvPr id="24" name="Text 22"/>
          <p:cNvSpPr/>
          <p:nvPr/>
        </p:nvSpPr>
        <p:spPr>
          <a:xfrm>
            <a:off x="4251960" y="2697480"/>
            <a:ext cx="1097280" cy="219456"/>
          </a:xfrm>
          <a:prstGeom prst="rect">
            <a:avLst/>
          </a:prstGeom>
          <a:noFill/>
          <a:ln/>
        </p:spPr>
        <p:txBody>
          <a:bodyPr wrap="square" lIns="0" tIns="0" rIns="0" bIns="0" rtlCol="0" anchor="ctr"/>
          <a:lstStyle/>
          <a:p>
            <a:pPr marL="0" indent="0" algn="ctr">
              <a:buNone/>
            </a:pPr>
            <a:r>
              <a:rPr lang="en-US" sz="1600" b="1" dirty="0">
                <a:solidFill>
                  <a:srgbClr val="155EEF"/>
                </a:solidFill>
              </a:rPr>
              <a:t>RUNTIME</a:t>
            </a:r>
            <a:endParaRPr lang="en-US" sz="1600" dirty="0"/>
          </a:p>
        </p:txBody>
      </p:sp>
      <p:sp>
        <p:nvSpPr>
          <p:cNvPr id="25" name="Text 23"/>
          <p:cNvSpPr/>
          <p:nvPr/>
        </p:nvSpPr>
        <p:spPr>
          <a:xfrm>
            <a:off x="5330952" y="2724912"/>
            <a:ext cx="1920240" cy="164592"/>
          </a:xfrm>
          <a:prstGeom prst="rect">
            <a:avLst/>
          </a:prstGeom>
          <a:noFill/>
          <a:ln/>
        </p:spPr>
        <p:txBody>
          <a:bodyPr wrap="square" lIns="0" tIns="0" rIns="0" bIns="0" rtlCol="0" anchor="ctr"/>
          <a:lstStyle/>
          <a:p>
            <a:pPr marL="0" indent="0">
              <a:buNone/>
            </a:pPr>
            <a:r>
              <a:rPr lang="en-US" sz="1050" b="1" dirty="0">
                <a:solidFill>
                  <a:srgbClr val="071A44"/>
                </a:solidFill>
              </a:rPr>
              <a:t>(when the agent is operating)</a:t>
            </a:r>
            <a:endParaRPr lang="en-US" sz="1050" dirty="0"/>
          </a:p>
        </p:txBody>
      </p:sp>
      <p:sp>
        <p:nvSpPr>
          <p:cNvPr id="26" name="Shape 24"/>
          <p:cNvSpPr/>
          <p:nvPr/>
        </p:nvSpPr>
        <p:spPr>
          <a:xfrm>
            <a:off x="914400" y="3072384"/>
            <a:ext cx="1417320" cy="1307592"/>
          </a:xfrm>
          <a:prstGeom prst="roundRect">
            <a:avLst>
              <a:gd name="adj" fmla="val 8392"/>
            </a:avLst>
          </a:prstGeom>
          <a:solidFill>
            <a:srgbClr val="FFF1F2"/>
          </a:solidFill>
          <a:ln w="12700">
            <a:solidFill>
              <a:srgbClr val="E11D48"/>
            </a:solidFill>
            <a:prstDash val="solid"/>
          </a:ln>
        </p:spPr>
        <p:txBody>
          <a:bodyPr/>
          <a:lstStyle/>
          <a:p>
            <a:endParaRPr lang="en-US"/>
          </a:p>
        </p:txBody>
      </p:sp>
      <p:sp>
        <p:nvSpPr>
          <p:cNvPr id="27" name="Shape 25"/>
          <p:cNvSpPr/>
          <p:nvPr/>
        </p:nvSpPr>
        <p:spPr>
          <a:xfrm>
            <a:off x="1554480" y="2944368"/>
            <a:ext cx="310896" cy="310896"/>
          </a:xfrm>
          <a:prstGeom prst="ellipse">
            <a:avLst/>
          </a:prstGeom>
          <a:solidFill>
            <a:srgbClr val="E11D48"/>
          </a:solidFill>
          <a:ln w="12700">
            <a:solidFill>
              <a:srgbClr val="E11D48"/>
            </a:solidFill>
            <a:prstDash val="solid"/>
          </a:ln>
        </p:spPr>
        <p:txBody>
          <a:bodyPr/>
          <a:lstStyle/>
          <a:p>
            <a:endParaRPr lang="en-US"/>
          </a:p>
        </p:txBody>
      </p:sp>
      <p:sp>
        <p:nvSpPr>
          <p:cNvPr id="28" name="Text 26"/>
          <p:cNvSpPr/>
          <p:nvPr/>
        </p:nvSpPr>
        <p:spPr>
          <a:xfrm>
            <a:off x="1554480" y="299008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9" name="Text 27"/>
          <p:cNvSpPr/>
          <p:nvPr/>
        </p:nvSpPr>
        <p:spPr>
          <a:xfrm>
            <a:off x="1024128" y="3255264"/>
            <a:ext cx="1207008" cy="292608"/>
          </a:xfrm>
          <a:prstGeom prst="rect">
            <a:avLst/>
          </a:prstGeom>
          <a:noFill/>
          <a:ln/>
        </p:spPr>
        <p:txBody>
          <a:bodyPr wrap="square" lIns="0" tIns="0" rIns="0" bIns="0" rtlCol="0" anchor="ctr"/>
          <a:lstStyle/>
          <a:p>
            <a:pPr marL="0" indent="0" algn="ctr">
              <a:buNone/>
            </a:pPr>
            <a:r>
              <a:rPr lang="en-US" sz="1200" b="1" dirty="0">
                <a:solidFill>
                  <a:srgbClr val="E11D48"/>
                </a:solidFill>
              </a:rPr>
              <a:t>Policy</a:t>
            </a:r>
            <a:endParaRPr lang="en-US" sz="1200" dirty="0"/>
          </a:p>
          <a:p>
            <a:pPr marL="0" indent="0" algn="ctr">
              <a:buNone/>
            </a:pPr>
            <a:r>
              <a:rPr lang="en-US" sz="1200" b="1" dirty="0">
                <a:solidFill>
                  <a:srgbClr val="E11D48"/>
                </a:solidFill>
              </a:rPr>
              <a:t>Boundary</a:t>
            </a:r>
            <a:endParaRPr lang="en-US" sz="1200" dirty="0"/>
          </a:p>
        </p:txBody>
      </p:sp>
      <p:sp>
        <p:nvSpPr>
          <p:cNvPr id="30" name="Text 28"/>
          <p:cNvSpPr/>
          <p:nvPr/>
        </p:nvSpPr>
        <p:spPr>
          <a:xfrm>
            <a:off x="1024128" y="3794760"/>
            <a:ext cx="1207008" cy="384048"/>
          </a:xfrm>
          <a:prstGeom prst="rect">
            <a:avLst/>
          </a:prstGeom>
          <a:noFill/>
          <a:ln/>
        </p:spPr>
        <p:txBody>
          <a:bodyPr wrap="square" lIns="0" tIns="0" rIns="0" bIns="0" rtlCol="0" anchor="ctr"/>
          <a:lstStyle/>
          <a:p>
            <a:pPr marL="0" indent="0" algn="ctr">
              <a:buNone/>
            </a:pPr>
            <a:r>
              <a:rPr lang="en-US" sz="960" dirty="0">
                <a:solidFill>
                  <a:srgbClr val="0F172A"/>
                </a:solidFill>
              </a:rPr>
              <a:t>Check: Is this</a:t>
            </a:r>
            <a:endParaRPr lang="en-US" sz="960" dirty="0"/>
          </a:p>
          <a:p>
            <a:pPr marL="0" indent="0" algn="ctr">
              <a:buNone/>
            </a:pPr>
            <a:r>
              <a:rPr lang="en-US" sz="960" dirty="0">
                <a:solidFill>
                  <a:srgbClr val="0F172A"/>
                </a:solidFill>
              </a:rPr>
              <a:t>allowed and safe?</a:t>
            </a:r>
            <a:endParaRPr lang="en-US" sz="960" dirty="0"/>
          </a:p>
        </p:txBody>
      </p:sp>
      <p:sp>
        <p:nvSpPr>
          <p:cNvPr id="31" name="Shape 29"/>
          <p:cNvSpPr/>
          <p:nvPr/>
        </p:nvSpPr>
        <p:spPr>
          <a:xfrm>
            <a:off x="3063240" y="3072384"/>
            <a:ext cx="1417320" cy="1307592"/>
          </a:xfrm>
          <a:prstGeom prst="roundRect">
            <a:avLst>
              <a:gd name="adj" fmla="val 8392"/>
            </a:avLst>
          </a:prstGeom>
          <a:solidFill>
            <a:srgbClr val="EAF2FF"/>
          </a:solidFill>
          <a:ln w="12700">
            <a:solidFill>
              <a:srgbClr val="155EEF"/>
            </a:solidFill>
            <a:prstDash val="solid"/>
          </a:ln>
        </p:spPr>
        <p:txBody>
          <a:bodyPr/>
          <a:lstStyle/>
          <a:p>
            <a:endParaRPr lang="en-US"/>
          </a:p>
        </p:txBody>
      </p:sp>
      <p:sp>
        <p:nvSpPr>
          <p:cNvPr id="32" name="Shape 30"/>
          <p:cNvSpPr/>
          <p:nvPr/>
        </p:nvSpPr>
        <p:spPr>
          <a:xfrm>
            <a:off x="3703320" y="2944368"/>
            <a:ext cx="310896" cy="310896"/>
          </a:xfrm>
          <a:prstGeom prst="ellipse">
            <a:avLst/>
          </a:prstGeom>
          <a:solidFill>
            <a:srgbClr val="155EEF"/>
          </a:solidFill>
          <a:ln w="12700">
            <a:solidFill>
              <a:srgbClr val="155EEF"/>
            </a:solidFill>
            <a:prstDash val="solid"/>
          </a:ln>
        </p:spPr>
        <p:txBody>
          <a:bodyPr/>
          <a:lstStyle/>
          <a:p>
            <a:endParaRPr lang="en-US"/>
          </a:p>
        </p:txBody>
      </p:sp>
      <p:sp>
        <p:nvSpPr>
          <p:cNvPr id="33" name="Text 31"/>
          <p:cNvSpPr/>
          <p:nvPr/>
        </p:nvSpPr>
        <p:spPr>
          <a:xfrm>
            <a:off x="3703320" y="299008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34" name="Text 32"/>
          <p:cNvSpPr/>
          <p:nvPr/>
        </p:nvSpPr>
        <p:spPr>
          <a:xfrm>
            <a:off x="3172968" y="3255264"/>
            <a:ext cx="1207008" cy="292608"/>
          </a:xfrm>
          <a:prstGeom prst="rect">
            <a:avLst/>
          </a:prstGeom>
          <a:noFill/>
          <a:ln/>
        </p:spPr>
        <p:txBody>
          <a:bodyPr wrap="square" lIns="0" tIns="0" rIns="0" bIns="0" rtlCol="0" anchor="ctr"/>
          <a:lstStyle/>
          <a:p>
            <a:pPr marL="0" indent="0" algn="ctr">
              <a:buNone/>
            </a:pPr>
            <a:r>
              <a:rPr lang="en-US" sz="1200" b="1" dirty="0">
                <a:solidFill>
                  <a:srgbClr val="155EEF"/>
                </a:solidFill>
              </a:rPr>
              <a:t>Reasoning &amp;</a:t>
            </a:r>
            <a:endParaRPr lang="en-US" sz="1200" dirty="0"/>
          </a:p>
          <a:p>
            <a:pPr marL="0" indent="0" algn="ctr">
              <a:buNone/>
            </a:pPr>
            <a:r>
              <a:rPr lang="en-US" sz="1200" b="1" dirty="0">
                <a:solidFill>
                  <a:srgbClr val="155EEF"/>
                </a:solidFill>
              </a:rPr>
              <a:t>Orchestration</a:t>
            </a:r>
            <a:endParaRPr lang="en-US" sz="1200" dirty="0"/>
          </a:p>
        </p:txBody>
      </p:sp>
      <p:sp>
        <p:nvSpPr>
          <p:cNvPr id="35" name="Text 33"/>
          <p:cNvSpPr/>
          <p:nvPr/>
        </p:nvSpPr>
        <p:spPr>
          <a:xfrm>
            <a:off x="3172968" y="3794760"/>
            <a:ext cx="1207008" cy="384048"/>
          </a:xfrm>
          <a:prstGeom prst="rect">
            <a:avLst/>
          </a:prstGeom>
          <a:noFill/>
          <a:ln/>
        </p:spPr>
        <p:txBody>
          <a:bodyPr wrap="square" lIns="0" tIns="0" rIns="0" bIns="0" rtlCol="0" anchor="ctr"/>
          <a:lstStyle/>
          <a:p>
            <a:pPr marL="0" indent="0" algn="ctr">
              <a:buNone/>
            </a:pPr>
            <a:r>
              <a:rPr lang="en-US" sz="960" dirty="0">
                <a:solidFill>
                  <a:srgbClr val="0F172A"/>
                </a:solidFill>
              </a:rPr>
              <a:t>Plan, decide,</a:t>
            </a:r>
            <a:endParaRPr lang="en-US" sz="960" dirty="0"/>
          </a:p>
          <a:p>
            <a:pPr marL="0" indent="0" algn="ctr">
              <a:buNone/>
            </a:pPr>
            <a:r>
              <a:rPr lang="en-US" sz="960" dirty="0">
                <a:solidFill>
                  <a:srgbClr val="0F172A"/>
                </a:solidFill>
              </a:rPr>
              <a:t>route and adapt</a:t>
            </a:r>
            <a:endParaRPr lang="en-US" sz="960" dirty="0"/>
          </a:p>
        </p:txBody>
      </p:sp>
      <p:sp>
        <p:nvSpPr>
          <p:cNvPr id="36" name="Shape 34"/>
          <p:cNvSpPr/>
          <p:nvPr/>
        </p:nvSpPr>
        <p:spPr>
          <a:xfrm>
            <a:off x="5212080" y="3072384"/>
            <a:ext cx="1417320" cy="1307592"/>
          </a:xfrm>
          <a:prstGeom prst="roundRect">
            <a:avLst>
              <a:gd name="adj" fmla="val 8392"/>
            </a:avLst>
          </a:prstGeom>
          <a:solidFill>
            <a:srgbClr val="ECFEFF"/>
          </a:solidFill>
          <a:ln w="12700">
            <a:solidFill>
              <a:srgbClr val="0F766E"/>
            </a:solidFill>
            <a:prstDash val="solid"/>
          </a:ln>
        </p:spPr>
        <p:txBody>
          <a:bodyPr/>
          <a:lstStyle/>
          <a:p>
            <a:endParaRPr lang="en-US"/>
          </a:p>
        </p:txBody>
      </p:sp>
      <p:sp>
        <p:nvSpPr>
          <p:cNvPr id="37" name="Shape 35"/>
          <p:cNvSpPr/>
          <p:nvPr/>
        </p:nvSpPr>
        <p:spPr>
          <a:xfrm>
            <a:off x="5852160" y="2944368"/>
            <a:ext cx="310896" cy="310896"/>
          </a:xfrm>
          <a:prstGeom prst="ellipse">
            <a:avLst/>
          </a:prstGeom>
          <a:solidFill>
            <a:srgbClr val="0F766E"/>
          </a:solidFill>
          <a:ln w="12700">
            <a:solidFill>
              <a:srgbClr val="0F766E"/>
            </a:solidFill>
            <a:prstDash val="solid"/>
          </a:ln>
        </p:spPr>
        <p:txBody>
          <a:bodyPr/>
          <a:lstStyle/>
          <a:p>
            <a:endParaRPr lang="en-US"/>
          </a:p>
        </p:txBody>
      </p:sp>
      <p:sp>
        <p:nvSpPr>
          <p:cNvPr id="38" name="Text 36"/>
          <p:cNvSpPr/>
          <p:nvPr/>
        </p:nvSpPr>
        <p:spPr>
          <a:xfrm>
            <a:off x="5852160" y="299008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9" name="Text 37"/>
          <p:cNvSpPr/>
          <p:nvPr/>
        </p:nvSpPr>
        <p:spPr>
          <a:xfrm>
            <a:off x="5321808" y="3255264"/>
            <a:ext cx="1207008" cy="292608"/>
          </a:xfrm>
          <a:prstGeom prst="rect">
            <a:avLst/>
          </a:prstGeom>
          <a:noFill/>
          <a:ln/>
        </p:spPr>
        <p:txBody>
          <a:bodyPr wrap="square" lIns="0" tIns="0" rIns="0" bIns="0" rtlCol="0" anchor="ctr"/>
          <a:lstStyle/>
          <a:p>
            <a:pPr marL="0" indent="0" algn="ctr">
              <a:buNone/>
            </a:pPr>
            <a:r>
              <a:rPr lang="en-US" sz="1200" b="1" dirty="0">
                <a:solidFill>
                  <a:srgbClr val="0F766E"/>
                </a:solidFill>
              </a:rPr>
              <a:t>Action</a:t>
            </a:r>
            <a:endParaRPr lang="en-US" sz="1200" dirty="0"/>
          </a:p>
          <a:p>
            <a:pPr marL="0" indent="0" algn="ctr">
              <a:buNone/>
            </a:pPr>
            <a:r>
              <a:rPr lang="en-US" sz="1200" b="1" dirty="0">
                <a:solidFill>
                  <a:srgbClr val="0F766E"/>
                </a:solidFill>
              </a:rPr>
              <a:t>Layer</a:t>
            </a:r>
            <a:endParaRPr lang="en-US" sz="1200" dirty="0"/>
          </a:p>
        </p:txBody>
      </p:sp>
      <p:sp>
        <p:nvSpPr>
          <p:cNvPr id="40" name="Text 38"/>
          <p:cNvSpPr/>
          <p:nvPr/>
        </p:nvSpPr>
        <p:spPr>
          <a:xfrm>
            <a:off x="5321808" y="3794760"/>
            <a:ext cx="1207008" cy="384048"/>
          </a:xfrm>
          <a:prstGeom prst="rect">
            <a:avLst/>
          </a:prstGeom>
          <a:noFill/>
          <a:ln/>
        </p:spPr>
        <p:txBody>
          <a:bodyPr wrap="square" lIns="0" tIns="0" rIns="0" bIns="0" rtlCol="0" anchor="ctr"/>
          <a:lstStyle/>
          <a:p>
            <a:pPr marL="0" indent="0" algn="ctr">
              <a:buNone/>
            </a:pPr>
            <a:r>
              <a:rPr lang="en-US" sz="960" dirty="0">
                <a:solidFill>
                  <a:srgbClr val="0F172A"/>
                </a:solidFill>
              </a:rPr>
              <a:t>Use tools / APIs /</a:t>
            </a:r>
            <a:endParaRPr lang="en-US" sz="960" dirty="0"/>
          </a:p>
          <a:p>
            <a:pPr marL="0" indent="0" algn="ctr">
              <a:buNone/>
            </a:pPr>
            <a:r>
              <a:rPr lang="en-US" sz="960" dirty="0">
                <a:solidFill>
                  <a:srgbClr val="0F172A"/>
                </a:solidFill>
              </a:rPr>
              <a:t>MCP to interact</a:t>
            </a:r>
            <a:endParaRPr lang="en-US" sz="960" dirty="0"/>
          </a:p>
          <a:p>
            <a:pPr marL="0" indent="0" algn="ctr">
              <a:buNone/>
            </a:pPr>
            <a:r>
              <a:rPr lang="en-US" sz="960" dirty="0">
                <a:solidFill>
                  <a:srgbClr val="0F172A"/>
                </a:solidFill>
              </a:rPr>
              <a:t>with the world</a:t>
            </a:r>
            <a:endParaRPr lang="en-US" sz="960" dirty="0"/>
          </a:p>
        </p:txBody>
      </p:sp>
      <p:sp>
        <p:nvSpPr>
          <p:cNvPr id="41" name="Shape 39"/>
          <p:cNvSpPr/>
          <p:nvPr/>
        </p:nvSpPr>
        <p:spPr>
          <a:xfrm>
            <a:off x="7360920" y="3072384"/>
            <a:ext cx="1417320" cy="1307592"/>
          </a:xfrm>
          <a:prstGeom prst="roundRect">
            <a:avLst>
              <a:gd name="adj" fmla="val 8392"/>
            </a:avLst>
          </a:prstGeom>
          <a:solidFill>
            <a:srgbClr val="ECFDF3"/>
          </a:solidFill>
          <a:ln w="12700">
            <a:solidFill>
              <a:srgbClr val="078A4A"/>
            </a:solidFill>
            <a:prstDash val="solid"/>
          </a:ln>
        </p:spPr>
        <p:txBody>
          <a:bodyPr/>
          <a:lstStyle/>
          <a:p>
            <a:endParaRPr lang="en-US"/>
          </a:p>
        </p:txBody>
      </p:sp>
      <p:sp>
        <p:nvSpPr>
          <p:cNvPr id="42" name="Shape 40"/>
          <p:cNvSpPr/>
          <p:nvPr/>
        </p:nvSpPr>
        <p:spPr>
          <a:xfrm>
            <a:off x="8001000" y="2944368"/>
            <a:ext cx="310896" cy="310896"/>
          </a:xfrm>
          <a:prstGeom prst="ellipse">
            <a:avLst/>
          </a:prstGeom>
          <a:solidFill>
            <a:srgbClr val="078A4A"/>
          </a:solidFill>
          <a:ln w="12700">
            <a:solidFill>
              <a:srgbClr val="078A4A"/>
            </a:solidFill>
            <a:prstDash val="solid"/>
          </a:ln>
        </p:spPr>
        <p:txBody>
          <a:bodyPr/>
          <a:lstStyle/>
          <a:p>
            <a:endParaRPr lang="en-US"/>
          </a:p>
        </p:txBody>
      </p:sp>
      <p:sp>
        <p:nvSpPr>
          <p:cNvPr id="43" name="Text 41"/>
          <p:cNvSpPr/>
          <p:nvPr/>
        </p:nvSpPr>
        <p:spPr>
          <a:xfrm>
            <a:off x="8001000" y="299008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44" name="Text 42"/>
          <p:cNvSpPr/>
          <p:nvPr/>
        </p:nvSpPr>
        <p:spPr>
          <a:xfrm>
            <a:off x="7470648" y="3255264"/>
            <a:ext cx="1207008" cy="292608"/>
          </a:xfrm>
          <a:prstGeom prst="rect">
            <a:avLst/>
          </a:prstGeom>
          <a:noFill/>
          <a:ln/>
        </p:spPr>
        <p:txBody>
          <a:bodyPr wrap="square" lIns="0" tIns="0" rIns="0" bIns="0" rtlCol="0" anchor="ctr"/>
          <a:lstStyle/>
          <a:p>
            <a:pPr marL="0" indent="0" algn="ctr">
              <a:buNone/>
            </a:pPr>
            <a:r>
              <a:rPr lang="en-US" sz="1200" b="1" dirty="0">
                <a:solidFill>
                  <a:srgbClr val="078A4A"/>
                </a:solidFill>
              </a:rPr>
              <a:t>Memory &amp;</a:t>
            </a:r>
            <a:endParaRPr lang="en-US" sz="1200" dirty="0"/>
          </a:p>
          <a:p>
            <a:pPr marL="0" indent="0" algn="ctr">
              <a:buNone/>
            </a:pPr>
            <a:r>
              <a:rPr lang="en-US" sz="1200" b="1" dirty="0">
                <a:solidFill>
                  <a:srgbClr val="078A4A"/>
                </a:solidFill>
              </a:rPr>
              <a:t>Context</a:t>
            </a:r>
            <a:endParaRPr lang="en-US" sz="1200" dirty="0"/>
          </a:p>
        </p:txBody>
      </p:sp>
      <p:sp>
        <p:nvSpPr>
          <p:cNvPr id="45" name="Text 43"/>
          <p:cNvSpPr/>
          <p:nvPr/>
        </p:nvSpPr>
        <p:spPr>
          <a:xfrm>
            <a:off x="7470648" y="3794760"/>
            <a:ext cx="1207008" cy="384048"/>
          </a:xfrm>
          <a:prstGeom prst="rect">
            <a:avLst/>
          </a:prstGeom>
          <a:noFill/>
          <a:ln/>
        </p:spPr>
        <p:txBody>
          <a:bodyPr wrap="square" lIns="0" tIns="0" rIns="0" bIns="0" rtlCol="0" anchor="ctr"/>
          <a:lstStyle/>
          <a:p>
            <a:pPr marL="0" indent="0" algn="ctr">
              <a:buNone/>
            </a:pPr>
            <a:r>
              <a:rPr lang="en-US" sz="960" dirty="0">
                <a:solidFill>
                  <a:srgbClr val="0F172A"/>
                </a:solidFill>
              </a:rPr>
              <a:t>Read / write</a:t>
            </a:r>
            <a:endParaRPr lang="en-US" sz="960" dirty="0"/>
          </a:p>
          <a:p>
            <a:pPr marL="0" indent="0" algn="ctr">
              <a:buNone/>
            </a:pPr>
            <a:r>
              <a:rPr lang="en-US" sz="960" dirty="0">
                <a:solidFill>
                  <a:srgbClr val="0F172A"/>
                </a:solidFill>
              </a:rPr>
              <a:t>memory and</a:t>
            </a:r>
            <a:endParaRPr lang="en-US" sz="960" dirty="0"/>
          </a:p>
          <a:p>
            <a:pPr marL="0" indent="0" algn="ctr">
              <a:buNone/>
            </a:pPr>
            <a:r>
              <a:rPr lang="en-US" sz="960" dirty="0">
                <a:solidFill>
                  <a:srgbClr val="0F172A"/>
                </a:solidFill>
              </a:rPr>
              <a:t>retrieve context</a:t>
            </a:r>
            <a:endParaRPr lang="en-US" sz="960" dirty="0"/>
          </a:p>
        </p:txBody>
      </p:sp>
      <p:sp>
        <p:nvSpPr>
          <p:cNvPr id="46" name="Shape 44"/>
          <p:cNvSpPr/>
          <p:nvPr/>
        </p:nvSpPr>
        <p:spPr>
          <a:xfrm>
            <a:off x="2331720" y="3712464"/>
            <a:ext cx="731520" cy="0"/>
          </a:xfrm>
          <a:prstGeom prst="line">
            <a:avLst/>
          </a:prstGeom>
          <a:noFill/>
          <a:ln w="12700">
            <a:solidFill>
              <a:srgbClr val="0F172A"/>
            </a:solidFill>
            <a:prstDash val="solid"/>
            <a:headEnd type="none"/>
            <a:tailEnd type="triangle"/>
          </a:ln>
        </p:spPr>
        <p:txBody>
          <a:bodyPr/>
          <a:lstStyle/>
          <a:p>
            <a:endParaRPr lang="en-US"/>
          </a:p>
        </p:txBody>
      </p:sp>
      <p:sp>
        <p:nvSpPr>
          <p:cNvPr id="47" name="Shape 45"/>
          <p:cNvSpPr/>
          <p:nvPr/>
        </p:nvSpPr>
        <p:spPr>
          <a:xfrm>
            <a:off x="4480560" y="3712464"/>
            <a:ext cx="731520" cy="0"/>
          </a:xfrm>
          <a:prstGeom prst="line">
            <a:avLst/>
          </a:prstGeom>
          <a:noFill/>
          <a:ln w="12700">
            <a:solidFill>
              <a:srgbClr val="0F172A"/>
            </a:solidFill>
            <a:prstDash val="solid"/>
            <a:headEnd type="none"/>
            <a:tailEnd type="triangle"/>
          </a:ln>
        </p:spPr>
        <p:txBody>
          <a:bodyPr/>
          <a:lstStyle/>
          <a:p>
            <a:endParaRPr lang="en-US"/>
          </a:p>
        </p:txBody>
      </p:sp>
      <p:sp>
        <p:nvSpPr>
          <p:cNvPr id="48" name="Shape 46"/>
          <p:cNvSpPr/>
          <p:nvPr/>
        </p:nvSpPr>
        <p:spPr>
          <a:xfrm>
            <a:off x="6629400" y="3712464"/>
            <a:ext cx="731520" cy="0"/>
          </a:xfrm>
          <a:prstGeom prst="line">
            <a:avLst/>
          </a:prstGeom>
          <a:noFill/>
          <a:ln w="12700">
            <a:solidFill>
              <a:srgbClr val="0F172A"/>
            </a:solidFill>
            <a:prstDash val="solid"/>
            <a:headEnd type="none"/>
            <a:tailEnd type="triangle"/>
          </a:ln>
        </p:spPr>
        <p:txBody>
          <a:bodyPr/>
          <a:lstStyle/>
          <a:p>
            <a:endParaRPr lang="en-US"/>
          </a:p>
        </p:txBody>
      </p:sp>
      <p:sp>
        <p:nvSpPr>
          <p:cNvPr id="49" name="Shape 47"/>
          <p:cNvSpPr/>
          <p:nvPr/>
        </p:nvSpPr>
        <p:spPr>
          <a:xfrm>
            <a:off x="1600200" y="4526280"/>
            <a:ext cx="0" cy="0"/>
          </a:xfrm>
          <a:prstGeom prst="line">
            <a:avLst/>
          </a:prstGeom>
          <a:noFill/>
          <a:ln w="12700">
            <a:solidFill>
              <a:srgbClr val="0F172A"/>
            </a:solidFill>
            <a:prstDash val="solid"/>
            <a:headEnd type="none"/>
            <a:tailEnd type="triangle"/>
          </a:ln>
        </p:spPr>
        <p:txBody>
          <a:bodyPr/>
          <a:lstStyle/>
          <a:p>
            <a:endParaRPr lang="en-US"/>
          </a:p>
        </p:txBody>
      </p:sp>
      <p:sp>
        <p:nvSpPr>
          <p:cNvPr id="50" name="Shape 48"/>
          <p:cNvSpPr/>
          <p:nvPr/>
        </p:nvSpPr>
        <p:spPr>
          <a:xfrm>
            <a:off x="1600200" y="4526280"/>
            <a:ext cx="6473952" cy="0"/>
          </a:xfrm>
          <a:prstGeom prst="line">
            <a:avLst/>
          </a:prstGeom>
          <a:noFill/>
          <a:ln w="12700">
            <a:solidFill>
              <a:srgbClr val="0F172A"/>
            </a:solidFill>
            <a:prstDash val="solid"/>
          </a:ln>
        </p:spPr>
        <p:txBody>
          <a:bodyPr/>
          <a:lstStyle/>
          <a:p>
            <a:endParaRPr lang="en-US"/>
          </a:p>
        </p:txBody>
      </p:sp>
      <p:sp>
        <p:nvSpPr>
          <p:cNvPr id="51" name="Shape 49"/>
          <p:cNvSpPr/>
          <p:nvPr/>
        </p:nvSpPr>
        <p:spPr>
          <a:xfrm>
            <a:off x="3749040" y="4526280"/>
            <a:ext cx="0" cy="0"/>
          </a:xfrm>
          <a:prstGeom prst="line">
            <a:avLst/>
          </a:prstGeom>
          <a:noFill/>
          <a:ln w="12700">
            <a:solidFill>
              <a:srgbClr val="0F172A"/>
            </a:solidFill>
            <a:prstDash val="solid"/>
            <a:headEnd type="none"/>
            <a:tailEnd type="triangle"/>
          </a:ln>
        </p:spPr>
        <p:txBody>
          <a:bodyPr/>
          <a:lstStyle/>
          <a:p>
            <a:endParaRPr lang="en-US"/>
          </a:p>
        </p:txBody>
      </p:sp>
      <p:sp>
        <p:nvSpPr>
          <p:cNvPr id="52" name="Shape 50"/>
          <p:cNvSpPr/>
          <p:nvPr/>
        </p:nvSpPr>
        <p:spPr>
          <a:xfrm>
            <a:off x="5897880" y="4526280"/>
            <a:ext cx="0" cy="0"/>
          </a:xfrm>
          <a:prstGeom prst="line">
            <a:avLst/>
          </a:prstGeom>
          <a:noFill/>
          <a:ln w="12700">
            <a:solidFill>
              <a:srgbClr val="0F172A"/>
            </a:solidFill>
            <a:prstDash val="solid"/>
            <a:headEnd type="none"/>
            <a:tailEnd type="triangle"/>
          </a:ln>
        </p:spPr>
        <p:txBody>
          <a:bodyPr/>
          <a:lstStyle/>
          <a:p>
            <a:endParaRPr lang="en-US"/>
          </a:p>
        </p:txBody>
      </p:sp>
      <p:sp>
        <p:nvSpPr>
          <p:cNvPr id="53" name="Shape 51"/>
          <p:cNvSpPr/>
          <p:nvPr/>
        </p:nvSpPr>
        <p:spPr>
          <a:xfrm>
            <a:off x="8074152" y="4526280"/>
            <a:ext cx="0" cy="0"/>
          </a:xfrm>
          <a:prstGeom prst="line">
            <a:avLst/>
          </a:prstGeom>
          <a:noFill/>
          <a:ln w="12700">
            <a:solidFill>
              <a:srgbClr val="0F172A"/>
            </a:solidFill>
            <a:prstDash val="solid"/>
            <a:headEnd type="none"/>
            <a:tailEnd type="triangle"/>
          </a:ln>
        </p:spPr>
        <p:txBody>
          <a:bodyPr/>
          <a:lstStyle/>
          <a:p>
            <a:endParaRPr lang="en-US"/>
          </a:p>
        </p:txBody>
      </p:sp>
      <p:sp>
        <p:nvSpPr>
          <p:cNvPr id="54" name="Text 52"/>
          <p:cNvSpPr/>
          <p:nvPr/>
        </p:nvSpPr>
        <p:spPr>
          <a:xfrm>
            <a:off x="3886200" y="4617720"/>
            <a:ext cx="2468880" cy="164592"/>
          </a:xfrm>
          <a:prstGeom prst="rect">
            <a:avLst/>
          </a:prstGeom>
          <a:noFill/>
          <a:ln/>
        </p:spPr>
        <p:txBody>
          <a:bodyPr wrap="square" lIns="0" tIns="0" rIns="0" bIns="0" rtlCol="0" anchor="ctr"/>
          <a:lstStyle/>
          <a:p>
            <a:pPr marL="0" indent="0" algn="ctr">
              <a:buNone/>
            </a:pPr>
            <a:r>
              <a:rPr lang="en-US" sz="1050" dirty="0">
                <a:solidFill>
                  <a:srgbClr val="0F172A"/>
                </a:solidFill>
              </a:rPr>
              <a:t>Iterate until the task is complete</a:t>
            </a:r>
            <a:endParaRPr lang="en-US" sz="1050" dirty="0"/>
          </a:p>
        </p:txBody>
      </p:sp>
      <p:sp>
        <p:nvSpPr>
          <p:cNvPr id="55" name="Shape 53"/>
          <p:cNvSpPr/>
          <p:nvPr/>
        </p:nvSpPr>
        <p:spPr>
          <a:xfrm>
            <a:off x="5120640" y="5065776"/>
            <a:ext cx="0" cy="283464"/>
          </a:xfrm>
          <a:prstGeom prst="line">
            <a:avLst/>
          </a:prstGeom>
          <a:noFill/>
          <a:ln w="12700">
            <a:solidFill>
              <a:srgbClr val="0F172A"/>
            </a:solidFill>
            <a:prstDash val="solid"/>
            <a:headEnd type="none"/>
            <a:tailEnd type="triangle"/>
          </a:ln>
        </p:spPr>
        <p:txBody>
          <a:bodyPr/>
          <a:lstStyle/>
          <a:p>
            <a:endParaRPr lang="en-US"/>
          </a:p>
        </p:txBody>
      </p:sp>
      <p:sp>
        <p:nvSpPr>
          <p:cNvPr id="56" name="Shape 54"/>
          <p:cNvSpPr/>
          <p:nvPr/>
        </p:nvSpPr>
        <p:spPr>
          <a:xfrm>
            <a:off x="2651760" y="5340096"/>
            <a:ext cx="4937760" cy="566928"/>
          </a:xfrm>
          <a:prstGeom prst="roundRect">
            <a:avLst>
              <a:gd name="adj" fmla="val 19355"/>
            </a:avLst>
          </a:prstGeom>
          <a:solidFill>
            <a:srgbClr val="FFF7ED"/>
          </a:solidFill>
          <a:ln w="12700">
            <a:solidFill>
              <a:srgbClr val="F97316"/>
            </a:solidFill>
            <a:prstDash val="solid"/>
          </a:ln>
        </p:spPr>
        <p:txBody>
          <a:bodyPr/>
          <a:lstStyle/>
          <a:p>
            <a:endParaRPr lang="en-US"/>
          </a:p>
        </p:txBody>
      </p:sp>
      <p:sp>
        <p:nvSpPr>
          <p:cNvPr id="57" name="Shape 55"/>
          <p:cNvSpPr/>
          <p:nvPr/>
        </p:nvSpPr>
        <p:spPr>
          <a:xfrm>
            <a:off x="2816352" y="5468112"/>
            <a:ext cx="310896" cy="310896"/>
          </a:xfrm>
          <a:prstGeom prst="ellipse">
            <a:avLst/>
          </a:prstGeom>
          <a:solidFill>
            <a:srgbClr val="F97316"/>
          </a:solidFill>
          <a:ln w="12700">
            <a:solidFill>
              <a:srgbClr val="F97316"/>
            </a:solidFill>
            <a:prstDash val="solid"/>
          </a:ln>
        </p:spPr>
        <p:txBody>
          <a:bodyPr/>
          <a:lstStyle/>
          <a:p>
            <a:endParaRPr lang="en-US"/>
          </a:p>
        </p:txBody>
      </p:sp>
      <p:sp>
        <p:nvSpPr>
          <p:cNvPr id="58" name="Text 56"/>
          <p:cNvSpPr/>
          <p:nvPr/>
        </p:nvSpPr>
        <p:spPr>
          <a:xfrm>
            <a:off x="2816352" y="551383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59" name="Text 57"/>
          <p:cNvSpPr/>
          <p:nvPr/>
        </p:nvSpPr>
        <p:spPr>
          <a:xfrm>
            <a:off x="3182112" y="5468112"/>
            <a:ext cx="2194560" cy="164592"/>
          </a:xfrm>
          <a:prstGeom prst="rect">
            <a:avLst/>
          </a:prstGeom>
          <a:noFill/>
          <a:ln/>
        </p:spPr>
        <p:txBody>
          <a:bodyPr wrap="square" lIns="0" tIns="0" rIns="0" bIns="0" rtlCol="0" anchor="ctr"/>
          <a:lstStyle/>
          <a:p>
            <a:pPr marL="0" indent="0">
              <a:buNone/>
            </a:pPr>
            <a:r>
              <a:rPr lang="en-US" sz="1400" b="1" dirty="0">
                <a:solidFill>
                  <a:srgbClr val="F97316"/>
                </a:solidFill>
              </a:rPr>
              <a:t>Response / External Effect</a:t>
            </a:r>
            <a:endParaRPr lang="en-US" sz="1400" dirty="0"/>
          </a:p>
        </p:txBody>
      </p:sp>
      <p:sp>
        <p:nvSpPr>
          <p:cNvPr id="60" name="Text 58"/>
          <p:cNvSpPr/>
          <p:nvPr/>
        </p:nvSpPr>
        <p:spPr>
          <a:xfrm>
            <a:off x="3182112" y="5705856"/>
            <a:ext cx="3977640" cy="164592"/>
          </a:xfrm>
          <a:prstGeom prst="rect">
            <a:avLst/>
          </a:prstGeom>
          <a:noFill/>
          <a:ln/>
        </p:spPr>
        <p:txBody>
          <a:bodyPr wrap="square" lIns="0" tIns="0" rIns="0" bIns="0" rtlCol="0" anchor="ctr"/>
          <a:lstStyle/>
          <a:p>
            <a:pPr marL="0" indent="0">
              <a:buNone/>
            </a:pPr>
            <a:r>
              <a:rPr lang="en-US" sz="1050" dirty="0">
                <a:solidFill>
                  <a:srgbClr val="0F172A"/>
                </a:solidFill>
              </a:rPr>
              <a:t>Final answer to user or side effect on the world</a:t>
            </a:r>
            <a:endParaRPr lang="en-US" sz="1050" dirty="0"/>
          </a:p>
        </p:txBody>
      </p:sp>
      <p:sp>
        <p:nvSpPr>
          <p:cNvPr id="61" name="Shape 59"/>
          <p:cNvSpPr/>
          <p:nvPr/>
        </p:nvSpPr>
        <p:spPr>
          <a:xfrm>
            <a:off x="594360" y="6108192"/>
            <a:ext cx="9052560" cy="530352"/>
          </a:xfrm>
          <a:prstGeom prst="roundRect">
            <a:avLst>
              <a:gd name="adj" fmla="val 20690"/>
            </a:avLst>
          </a:prstGeom>
          <a:solidFill>
            <a:srgbClr val="EAF2FF"/>
          </a:solidFill>
          <a:ln w="12700">
            <a:solidFill>
              <a:srgbClr val="155EEF"/>
            </a:solidFill>
            <a:prstDash val="solid"/>
          </a:ln>
        </p:spPr>
        <p:txBody>
          <a:bodyPr/>
          <a:lstStyle/>
          <a:p>
            <a:endParaRPr lang="en-US"/>
          </a:p>
        </p:txBody>
      </p:sp>
      <p:sp>
        <p:nvSpPr>
          <p:cNvPr id="62" name="Text 60"/>
          <p:cNvSpPr/>
          <p:nvPr/>
        </p:nvSpPr>
        <p:spPr>
          <a:xfrm>
            <a:off x="1188720" y="6236208"/>
            <a:ext cx="5943600" cy="164592"/>
          </a:xfrm>
          <a:prstGeom prst="rect">
            <a:avLst/>
          </a:prstGeom>
          <a:noFill/>
          <a:ln/>
        </p:spPr>
        <p:txBody>
          <a:bodyPr wrap="square" lIns="0" tIns="0" rIns="0" bIns="0" rtlCol="0" anchor="ctr"/>
          <a:lstStyle/>
          <a:p>
            <a:pPr marL="0" indent="0">
              <a:buNone/>
            </a:pPr>
            <a:r>
              <a:rPr lang="en-US" sz="1270" b="1" dirty="0">
                <a:solidFill>
                  <a:srgbClr val="155EEF"/>
                </a:solidFill>
              </a:rPr>
              <a:t>TELEMETRY, OBSERVABILITY &amp; CONTINUOUS EVALUATION</a:t>
            </a:r>
            <a:endParaRPr lang="en-US" sz="1270" dirty="0"/>
          </a:p>
        </p:txBody>
      </p:sp>
      <p:sp>
        <p:nvSpPr>
          <p:cNvPr id="63" name="Text 61"/>
          <p:cNvSpPr/>
          <p:nvPr/>
        </p:nvSpPr>
        <p:spPr>
          <a:xfrm>
            <a:off x="1188720" y="6473952"/>
            <a:ext cx="4709160" cy="146304"/>
          </a:xfrm>
          <a:prstGeom prst="rect">
            <a:avLst/>
          </a:prstGeom>
          <a:noFill/>
          <a:ln/>
        </p:spPr>
        <p:txBody>
          <a:bodyPr wrap="square" lIns="0" tIns="0" rIns="0" bIns="0" rtlCol="0" anchor="ctr"/>
          <a:lstStyle/>
          <a:p>
            <a:pPr marL="0" indent="0">
              <a:buNone/>
            </a:pPr>
            <a:r>
              <a:rPr lang="en-US" sz="870" dirty="0">
                <a:solidFill>
                  <a:srgbClr val="0F172A"/>
                </a:solidFill>
              </a:rPr>
              <a:t>traces • spans • logs • metrics • latency • cost • sessions • conformance</a:t>
            </a:r>
            <a:endParaRPr lang="en-US" sz="870" dirty="0"/>
          </a:p>
        </p:txBody>
      </p:sp>
      <p:sp>
        <p:nvSpPr>
          <p:cNvPr id="64" name="Text 62"/>
          <p:cNvSpPr/>
          <p:nvPr/>
        </p:nvSpPr>
        <p:spPr>
          <a:xfrm>
            <a:off x="6172200" y="6473952"/>
            <a:ext cx="2926080" cy="146304"/>
          </a:xfrm>
          <a:prstGeom prst="rect">
            <a:avLst/>
          </a:prstGeom>
          <a:noFill/>
          <a:ln/>
        </p:spPr>
        <p:txBody>
          <a:bodyPr wrap="square" lIns="0" tIns="0" rIns="0" bIns="0" rtlCol="0" anchor="ctr"/>
          <a:lstStyle/>
          <a:p>
            <a:pPr marL="0" indent="0">
              <a:buNone/>
            </a:pPr>
            <a:r>
              <a:rPr lang="en-US" sz="870" b="1" dirty="0">
                <a:solidFill>
                  <a:srgbClr val="155EEF"/>
                </a:solidFill>
              </a:rPr>
              <a:t>Observe → Evaluate → Learn → Improve</a:t>
            </a:r>
            <a:endParaRPr lang="en-US" sz="870" dirty="0"/>
          </a:p>
        </p:txBody>
      </p:sp>
      <p:sp>
        <p:nvSpPr>
          <p:cNvPr id="65" name="Shape 63"/>
          <p:cNvSpPr/>
          <p:nvPr/>
        </p:nvSpPr>
        <p:spPr>
          <a:xfrm>
            <a:off x="9921240" y="1508760"/>
            <a:ext cx="1737360" cy="4041648"/>
          </a:xfrm>
          <a:prstGeom prst="roundRect">
            <a:avLst>
              <a:gd name="adj" fmla="val 6316"/>
            </a:avLst>
          </a:prstGeom>
          <a:solidFill>
            <a:srgbClr val="FFFFFF"/>
          </a:solidFill>
          <a:ln w="12700">
            <a:solidFill>
              <a:srgbClr val="D7E3F3"/>
            </a:solidFill>
            <a:prstDash val="solid"/>
          </a:ln>
        </p:spPr>
        <p:txBody>
          <a:bodyPr/>
          <a:lstStyle/>
          <a:p>
            <a:endParaRPr lang="en-US"/>
          </a:p>
        </p:txBody>
      </p:sp>
      <p:sp>
        <p:nvSpPr>
          <p:cNvPr id="66" name="Text 64"/>
          <p:cNvSpPr/>
          <p:nvPr/>
        </p:nvSpPr>
        <p:spPr>
          <a:xfrm>
            <a:off x="10122408" y="1737360"/>
            <a:ext cx="1325880" cy="256032"/>
          </a:xfrm>
          <a:prstGeom prst="rect">
            <a:avLst/>
          </a:prstGeom>
          <a:noFill/>
          <a:ln/>
        </p:spPr>
        <p:txBody>
          <a:bodyPr wrap="square" lIns="0" tIns="0" rIns="0" bIns="0" rtlCol="0" anchor="ctr"/>
          <a:lstStyle/>
          <a:p>
            <a:pPr marL="0" indent="0" algn="ctr">
              <a:buNone/>
            </a:pPr>
            <a:r>
              <a:rPr lang="en-US" sz="1500" b="1" dirty="0">
                <a:solidFill>
                  <a:srgbClr val="071A44"/>
                </a:solidFill>
              </a:rPr>
              <a:t>What this shows</a:t>
            </a:r>
            <a:endParaRPr lang="en-US" sz="1500" dirty="0"/>
          </a:p>
        </p:txBody>
      </p:sp>
      <p:sp>
        <p:nvSpPr>
          <p:cNvPr id="67" name="Text 65"/>
          <p:cNvSpPr/>
          <p:nvPr/>
        </p:nvSpPr>
        <p:spPr>
          <a:xfrm>
            <a:off x="10131552" y="2331720"/>
            <a:ext cx="1298448" cy="438912"/>
          </a:xfrm>
          <a:prstGeom prst="rect">
            <a:avLst/>
          </a:prstGeom>
          <a:noFill/>
          <a:ln/>
        </p:spPr>
        <p:txBody>
          <a:bodyPr wrap="square" lIns="0" tIns="0" rIns="0" bIns="0" rtlCol="0" anchor="ctr"/>
          <a:lstStyle/>
          <a:p>
            <a:pPr marL="0" indent="0" algn="ctr">
              <a:buNone/>
            </a:pPr>
            <a:r>
              <a:rPr lang="en-US" sz="1150" dirty="0">
                <a:solidFill>
                  <a:srgbClr val="0F172A"/>
                </a:solidFill>
              </a:rPr>
              <a:t>Build-time decisions</a:t>
            </a:r>
            <a:endParaRPr lang="en-US" sz="1150" dirty="0"/>
          </a:p>
          <a:p>
            <a:pPr marL="0" indent="0" algn="ctr">
              <a:buNone/>
            </a:pPr>
            <a:r>
              <a:rPr lang="en-US" sz="1150" dirty="0">
                <a:solidFill>
                  <a:srgbClr val="0F172A"/>
                </a:solidFill>
              </a:rPr>
              <a:t>shape runtime behavior.</a:t>
            </a:r>
            <a:endParaRPr lang="en-US" sz="1150" dirty="0"/>
          </a:p>
        </p:txBody>
      </p:sp>
      <p:sp>
        <p:nvSpPr>
          <p:cNvPr id="68" name="Shape 66"/>
          <p:cNvSpPr/>
          <p:nvPr/>
        </p:nvSpPr>
        <p:spPr>
          <a:xfrm>
            <a:off x="10104120" y="2953512"/>
            <a:ext cx="1371600" cy="0"/>
          </a:xfrm>
          <a:prstGeom prst="line">
            <a:avLst/>
          </a:prstGeom>
          <a:noFill/>
          <a:ln w="12700">
            <a:solidFill>
              <a:srgbClr val="E2E8F0"/>
            </a:solidFill>
            <a:prstDash val="solid"/>
          </a:ln>
        </p:spPr>
        <p:txBody>
          <a:bodyPr/>
          <a:lstStyle/>
          <a:p>
            <a:endParaRPr lang="en-US"/>
          </a:p>
        </p:txBody>
      </p:sp>
      <p:sp>
        <p:nvSpPr>
          <p:cNvPr id="69" name="Text 67"/>
          <p:cNvSpPr/>
          <p:nvPr/>
        </p:nvSpPr>
        <p:spPr>
          <a:xfrm>
            <a:off x="10131552" y="3383280"/>
            <a:ext cx="1298448" cy="438912"/>
          </a:xfrm>
          <a:prstGeom prst="rect">
            <a:avLst/>
          </a:prstGeom>
          <a:noFill/>
          <a:ln/>
        </p:spPr>
        <p:txBody>
          <a:bodyPr wrap="square" lIns="0" tIns="0" rIns="0" bIns="0" rtlCol="0" anchor="ctr"/>
          <a:lstStyle/>
          <a:p>
            <a:pPr marL="0" indent="0" algn="ctr">
              <a:buNone/>
            </a:pPr>
            <a:r>
              <a:rPr lang="en-US" sz="1150" dirty="0">
                <a:solidFill>
                  <a:srgbClr val="0F172A"/>
                </a:solidFill>
              </a:rPr>
              <a:t>The agent reasons,</a:t>
            </a:r>
            <a:endParaRPr lang="en-US" sz="1150" dirty="0"/>
          </a:p>
          <a:p>
            <a:pPr marL="0" indent="0" algn="ctr">
              <a:buNone/>
            </a:pPr>
            <a:r>
              <a:rPr lang="en-US" sz="1150" dirty="0">
                <a:solidFill>
                  <a:srgbClr val="0F172A"/>
                </a:solidFill>
              </a:rPr>
              <a:t>acts, uses memory,</a:t>
            </a:r>
            <a:endParaRPr lang="en-US" sz="1150" dirty="0"/>
          </a:p>
          <a:p>
            <a:pPr marL="0" indent="0" algn="ctr">
              <a:buNone/>
            </a:pPr>
            <a:r>
              <a:rPr lang="en-US" sz="1150" dirty="0">
                <a:solidFill>
                  <a:srgbClr val="0F172A"/>
                </a:solidFill>
              </a:rPr>
              <a:t>and iterates.</a:t>
            </a:r>
            <a:endParaRPr lang="en-US" sz="1150" dirty="0"/>
          </a:p>
        </p:txBody>
      </p:sp>
      <p:sp>
        <p:nvSpPr>
          <p:cNvPr id="70" name="Shape 68"/>
          <p:cNvSpPr/>
          <p:nvPr/>
        </p:nvSpPr>
        <p:spPr>
          <a:xfrm>
            <a:off x="10104120" y="4005072"/>
            <a:ext cx="1371600" cy="0"/>
          </a:xfrm>
          <a:prstGeom prst="line">
            <a:avLst/>
          </a:prstGeom>
          <a:noFill/>
          <a:ln w="12700">
            <a:solidFill>
              <a:srgbClr val="E2E8F0"/>
            </a:solidFill>
            <a:prstDash val="solid"/>
          </a:ln>
        </p:spPr>
        <p:txBody>
          <a:bodyPr/>
          <a:lstStyle/>
          <a:p>
            <a:endParaRPr lang="en-US"/>
          </a:p>
        </p:txBody>
      </p:sp>
      <p:sp>
        <p:nvSpPr>
          <p:cNvPr id="71" name="Text 69"/>
          <p:cNvSpPr/>
          <p:nvPr/>
        </p:nvSpPr>
        <p:spPr>
          <a:xfrm>
            <a:off x="10131552" y="4434840"/>
            <a:ext cx="1298448" cy="438912"/>
          </a:xfrm>
          <a:prstGeom prst="rect">
            <a:avLst/>
          </a:prstGeom>
          <a:noFill/>
          <a:ln/>
        </p:spPr>
        <p:txBody>
          <a:bodyPr wrap="square" lIns="0" tIns="0" rIns="0" bIns="0" rtlCol="0" anchor="ctr"/>
          <a:lstStyle/>
          <a:p>
            <a:pPr marL="0" indent="0" algn="ctr">
              <a:buNone/>
            </a:pPr>
            <a:r>
              <a:rPr lang="en-US" sz="1150" dirty="0">
                <a:solidFill>
                  <a:srgbClr val="0F172A"/>
                </a:solidFill>
              </a:rPr>
              <a:t>Observability provides</a:t>
            </a:r>
            <a:endParaRPr lang="en-US" sz="1150" dirty="0"/>
          </a:p>
          <a:p>
            <a:pPr marL="0" indent="0" algn="ctr">
              <a:buNone/>
            </a:pPr>
            <a:r>
              <a:rPr lang="en-US" sz="1150" dirty="0">
                <a:solidFill>
                  <a:srgbClr val="0F172A"/>
                </a:solidFill>
              </a:rPr>
              <a:t>evidence to evaluate</a:t>
            </a:r>
            <a:endParaRPr lang="en-US" sz="1150" dirty="0"/>
          </a:p>
          <a:p>
            <a:pPr marL="0" indent="0" algn="ctr">
              <a:buNone/>
            </a:pPr>
            <a:r>
              <a:rPr lang="en-US" sz="1150" dirty="0">
                <a:solidFill>
                  <a:srgbClr val="0F172A"/>
                </a:solidFill>
              </a:rPr>
              <a:t>and improve.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Five QA Questions for Agentic AI</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A practical framework for QA</a:t>
            </a:r>
            <a:endParaRPr lang="en-US" sz="1250" dirty="0"/>
          </a:p>
        </p:txBody>
      </p:sp>
      <p:sp>
        <p:nvSpPr>
          <p:cNvPr id="6" name="Shape 4"/>
          <p:cNvSpPr/>
          <p:nvPr/>
        </p:nvSpPr>
        <p:spPr>
          <a:xfrm>
            <a:off x="685800" y="1234440"/>
            <a:ext cx="3200400" cy="1783080"/>
          </a:xfrm>
          <a:prstGeom prst="roundRect">
            <a:avLst>
              <a:gd name="adj" fmla="val 6154"/>
            </a:avLst>
          </a:prstGeom>
          <a:solidFill>
            <a:srgbClr val="FFF1F2"/>
          </a:solidFill>
          <a:ln w="12700">
            <a:solidFill>
              <a:srgbClr val="E11D48"/>
            </a:solidFill>
            <a:prstDash val="solid"/>
          </a:ln>
        </p:spPr>
        <p:txBody>
          <a:bodyPr/>
          <a:lstStyle/>
          <a:p>
            <a:endParaRPr lang="en-US"/>
          </a:p>
        </p:txBody>
      </p:sp>
      <p:sp>
        <p:nvSpPr>
          <p:cNvPr id="7" name="Shape 5"/>
          <p:cNvSpPr/>
          <p:nvPr/>
        </p:nvSpPr>
        <p:spPr>
          <a:xfrm>
            <a:off x="2130552" y="1399032"/>
            <a:ext cx="310896" cy="310896"/>
          </a:xfrm>
          <a:prstGeom prst="ellipse">
            <a:avLst/>
          </a:prstGeom>
          <a:solidFill>
            <a:srgbClr val="E11D48"/>
          </a:solidFill>
          <a:ln w="12700">
            <a:solidFill>
              <a:srgbClr val="E11D48"/>
            </a:solidFill>
            <a:prstDash val="solid"/>
          </a:ln>
        </p:spPr>
        <p:txBody>
          <a:bodyPr/>
          <a:lstStyle/>
          <a:p>
            <a:endParaRPr lang="en-US"/>
          </a:p>
        </p:txBody>
      </p:sp>
      <p:sp>
        <p:nvSpPr>
          <p:cNvPr id="8" name="Text 6"/>
          <p:cNvSpPr/>
          <p:nvPr/>
        </p:nvSpPr>
        <p:spPr>
          <a:xfrm>
            <a:off x="2130552" y="14447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850392" y="1892808"/>
            <a:ext cx="2871216" cy="548640"/>
          </a:xfrm>
          <a:prstGeom prst="rect">
            <a:avLst/>
          </a:prstGeom>
          <a:noFill/>
          <a:ln/>
        </p:spPr>
        <p:txBody>
          <a:bodyPr wrap="square" lIns="0" tIns="0" rIns="0" bIns="0" rtlCol="0" anchor="ctr"/>
          <a:lstStyle/>
          <a:p>
            <a:pPr marL="0" indent="0" algn="ctr">
              <a:buNone/>
            </a:pPr>
            <a:r>
              <a:rPr lang="en-US" sz="1800" b="1" dirty="0">
                <a:solidFill>
                  <a:srgbClr val="E11D48"/>
                </a:solidFill>
              </a:rPr>
              <a:t>Can the system</a:t>
            </a:r>
            <a:endParaRPr lang="en-US" sz="1800" dirty="0"/>
          </a:p>
          <a:p>
            <a:pPr marL="0" indent="0" algn="ctr">
              <a:buNone/>
            </a:pPr>
            <a:r>
              <a:rPr lang="en-US" sz="1800" b="1" dirty="0">
                <a:solidFill>
                  <a:srgbClr val="E11D48"/>
                </a:solidFill>
              </a:rPr>
              <a:t>do this?</a:t>
            </a:r>
            <a:endParaRPr lang="en-US" sz="1800" dirty="0"/>
          </a:p>
        </p:txBody>
      </p:sp>
      <p:sp>
        <p:nvSpPr>
          <p:cNvPr id="10" name="Shape 8"/>
          <p:cNvSpPr/>
          <p:nvPr/>
        </p:nvSpPr>
        <p:spPr>
          <a:xfrm>
            <a:off x="1005840" y="2624328"/>
            <a:ext cx="2560320" cy="0"/>
          </a:xfrm>
          <a:prstGeom prst="line">
            <a:avLst/>
          </a:prstGeom>
          <a:noFill/>
          <a:ln w="12700">
            <a:solidFill>
              <a:srgbClr val="E11D48"/>
            </a:solidFill>
            <a:prstDash val="solid"/>
          </a:ln>
        </p:spPr>
        <p:txBody>
          <a:bodyPr/>
          <a:lstStyle/>
          <a:p>
            <a:endParaRPr lang="en-US"/>
          </a:p>
        </p:txBody>
      </p:sp>
      <p:sp>
        <p:nvSpPr>
          <p:cNvPr id="11" name="Text 9"/>
          <p:cNvSpPr/>
          <p:nvPr/>
        </p:nvSpPr>
        <p:spPr>
          <a:xfrm>
            <a:off x="914400" y="2606040"/>
            <a:ext cx="2743200" cy="292608"/>
          </a:xfrm>
          <a:prstGeom prst="rect">
            <a:avLst/>
          </a:prstGeom>
          <a:noFill/>
          <a:ln/>
        </p:spPr>
        <p:txBody>
          <a:bodyPr wrap="square" lIns="0" tIns="0" rIns="0" bIns="0" rtlCol="0" anchor="ctr"/>
          <a:lstStyle/>
          <a:p>
            <a:pPr marL="0" indent="0" algn="ctr">
              <a:buNone/>
            </a:pPr>
            <a:r>
              <a:rPr lang="en-US" sz="1350" b="1" dirty="0">
                <a:solidFill>
                  <a:srgbClr val="071A44"/>
                </a:solidFill>
              </a:rPr>
              <a:t>Policy Boundary</a:t>
            </a:r>
            <a:endParaRPr lang="en-US" sz="1350" dirty="0"/>
          </a:p>
        </p:txBody>
      </p:sp>
      <p:sp>
        <p:nvSpPr>
          <p:cNvPr id="12" name="Shape 10"/>
          <p:cNvSpPr/>
          <p:nvPr/>
        </p:nvSpPr>
        <p:spPr>
          <a:xfrm>
            <a:off x="4480560" y="1234440"/>
            <a:ext cx="3200400" cy="1783080"/>
          </a:xfrm>
          <a:prstGeom prst="roundRect">
            <a:avLst>
              <a:gd name="adj" fmla="val 6154"/>
            </a:avLst>
          </a:prstGeom>
          <a:solidFill>
            <a:srgbClr val="FFF3E8"/>
          </a:solidFill>
          <a:ln w="12700">
            <a:solidFill>
              <a:srgbClr val="F97316"/>
            </a:solidFill>
            <a:prstDash val="solid"/>
          </a:ln>
        </p:spPr>
        <p:txBody>
          <a:bodyPr/>
          <a:lstStyle/>
          <a:p>
            <a:endParaRPr lang="en-US"/>
          </a:p>
        </p:txBody>
      </p:sp>
      <p:sp>
        <p:nvSpPr>
          <p:cNvPr id="13" name="Shape 11"/>
          <p:cNvSpPr/>
          <p:nvPr/>
        </p:nvSpPr>
        <p:spPr>
          <a:xfrm>
            <a:off x="5925312" y="1399032"/>
            <a:ext cx="310896" cy="310896"/>
          </a:xfrm>
          <a:prstGeom prst="ellipse">
            <a:avLst/>
          </a:prstGeom>
          <a:solidFill>
            <a:srgbClr val="F97316"/>
          </a:solidFill>
          <a:ln w="12700">
            <a:solidFill>
              <a:srgbClr val="F97316"/>
            </a:solidFill>
            <a:prstDash val="solid"/>
          </a:ln>
        </p:spPr>
        <p:txBody>
          <a:bodyPr/>
          <a:lstStyle/>
          <a:p>
            <a:endParaRPr lang="en-US"/>
          </a:p>
        </p:txBody>
      </p:sp>
      <p:sp>
        <p:nvSpPr>
          <p:cNvPr id="14" name="Text 12"/>
          <p:cNvSpPr/>
          <p:nvPr/>
        </p:nvSpPr>
        <p:spPr>
          <a:xfrm>
            <a:off x="5925312" y="14447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5" name="Text 13"/>
          <p:cNvSpPr/>
          <p:nvPr/>
        </p:nvSpPr>
        <p:spPr>
          <a:xfrm>
            <a:off x="4645152" y="1892808"/>
            <a:ext cx="2871216" cy="548640"/>
          </a:xfrm>
          <a:prstGeom prst="rect">
            <a:avLst/>
          </a:prstGeom>
          <a:noFill/>
          <a:ln/>
        </p:spPr>
        <p:txBody>
          <a:bodyPr wrap="square" lIns="0" tIns="0" rIns="0" bIns="0" rtlCol="0" anchor="ctr"/>
          <a:lstStyle/>
          <a:p>
            <a:pPr marL="0" indent="0" algn="ctr">
              <a:buNone/>
            </a:pPr>
            <a:r>
              <a:rPr lang="en-US" sz="1800" b="1" dirty="0">
                <a:solidFill>
                  <a:srgbClr val="F97316"/>
                </a:solidFill>
              </a:rPr>
              <a:t>Did it choose a</a:t>
            </a:r>
            <a:endParaRPr lang="en-US" sz="1800" dirty="0"/>
          </a:p>
          <a:p>
            <a:pPr marL="0" indent="0" algn="ctr">
              <a:buNone/>
            </a:pPr>
            <a:r>
              <a:rPr lang="en-US" sz="1800" b="1" dirty="0">
                <a:solidFill>
                  <a:srgbClr val="F97316"/>
                </a:solidFill>
              </a:rPr>
              <a:t>reasonable path?</a:t>
            </a:r>
            <a:endParaRPr lang="en-US" sz="1800" dirty="0"/>
          </a:p>
        </p:txBody>
      </p:sp>
      <p:sp>
        <p:nvSpPr>
          <p:cNvPr id="16" name="Shape 14"/>
          <p:cNvSpPr/>
          <p:nvPr/>
        </p:nvSpPr>
        <p:spPr>
          <a:xfrm>
            <a:off x="4800600" y="2624328"/>
            <a:ext cx="2560320" cy="0"/>
          </a:xfrm>
          <a:prstGeom prst="line">
            <a:avLst/>
          </a:prstGeom>
          <a:noFill/>
          <a:ln w="12700">
            <a:solidFill>
              <a:srgbClr val="F97316"/>
            </a:solidFill>
            <a:prstDash val="solid"/>
          </a:ln>
        </p:spPr>
        <p:txBody>
          <a:bodyPr/>
          <a:lstStyle/>
          <a:p>
            <a:endParaRPr lang="en-US"/>
          </a:p>
        </p:txBody>
      </p:sp>
      <p:sp>
        <p:nvSpPr>
          <p:cNvPr id="17" name="Text 15"/>
          <p:cNvSpPr/>
          <p:nvPr/>
        </p:nvSpPr>
        <p:spPr>
          <a:xfrm>
            <a:off x="4709160" y="2606040"/>
            <a:ext cx="2743200" cy="292608"/>
          </a:xfrm>
          <a:prstGeom prst="rect">
            <a:avLst/>
          </a:prstGeom>
          <a:noFill/>
          <a:ln/>
        </p:spPr>
        <p:txBody>
          <a:bodyPr wrap="square" lIns="0" tIns="0" rIns="0" bIns="0" rtlCol="0" anchor="ctr"/>
          <a:lstStyle/>
          <a:p>
            <a:pPr marL="0" indent="0" algn="ctr">
              <a:buNone/>
            </a:pPr>
            <a:r>
              <a:rPr lang="en-US" sz="1350" b="1" dirty="0">
                <a:solidFill>
                  <a:srgbClr val="071A44"/>
                </a:solidFill>
              </a:rPr>
              <a:t>Reasoning &amp; Orchestration</a:t>
            </a:r>
            <a:endParaRPr lang="en-US" sz="1350" dirty="0"/>
          </a:p>
        </p:txBody>
      </p:sp>
      <p:sp>
        <p:nvSpPr>
          <p:cNvPr id="18" name="Shape 16"/>
          <p:cNvSpPr/>
          <p:nvPr/>
        </p:nvSpPr>
        <p:spPr>
          <a:xfrm>
            <a:off x="8275320" y="1234440"/>
            <a:ext cx="3200400" cy="1783080"/>
          </a:xfrm>
          <a:prstGeom prst="roundRect">
            <a:avLst>
              <a:gd name="adj" fmla="val 6154"/>
            </a:avLst>
          </a:prstGeom>
          <a:solidFill>
            <a:srgbClr val="ECFEFF"/>
          </a:solidFill>
          <a:ln w="12700">
            <a:solidFill>
              <a:srgbClr val="0F766E"/>
            </a:solidFill>
            <a:prstDash val="solid"/>
          </a:ln>
        </p:spPr>
        <p:txBody>
          <a:bodyPr/>
          <a:lstStyle/>
          <a:p>
            <a:endParaRPr lang="en-US"/>
          </a:p>
        </p:txBody>
      </p:sp>
      <p:sp>
        <p:nvSpPr>
          <p:cNvPr id="19" name="Shape 17"/>
          <p:cNvSpPr/>
          <p:nvPr/>
        </p:nvSpPr>
        <p:spPr>
          <a:xfrm>
            <a:off x="9720072" y="1399032"/>
            <a:ext cx="310896" cy="310896"/>
          </a:xfrm>
          <a:prstGeom prst="ellipse">
            <a:avLst/>
          </a:prstGeom>
          <a:solidFill>
            <a:srgbClr val="0F766E"/>
          </a:solidFill>
          <a:ln w="12700">
            <a:solidFill>
              <a:srgbClr val="0F766E"/>
            </a:solidFill>
            <a:prstDash val="solid"/>
          </a:ln>
        </p:spPr>
        <p:txBody>
          <a:bodyPr/>
          <a:lstStyle/>
          <a:p>
            <a:endParaRPr lang="en-US"/>
          </a:p>
        </p:txBody>
      </p:sp>
      <p:sp>
        <p:nvSpPr>
          <p:cNvPr id="20" name="Text 18"/>
          <p:cNvSpPr/>
          <p:nvPr/>
        </p:nvSpPr>
        <p:spPr>
          <a:xfrm>
            <a:off x="9720072" y="144475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1" name="Text 19"/>
          <p:cNvSpPr/>
          <p:nvPr/>
        </p:nvSpPr>
        <p:spPr>
          <a:xfrm>
            <a:off x="8439912" y="1892808"/>
            <a:ext cx="2871216" cy="548640"/>
          </a:xfrm>
          <a:prstGeom prst="rect">
            <a:avLst/>
          </a:prstGeom>
          <a:noFill/>
          <a:ln/>
        </p:spPr>
        <p:txBody>
          <a:bodyPr wrap="square" lIns="0" tIns="0" rIns="0" bIns="0" rtlCol="0" anchor="ctr"/>
          <a:lstStyle/>
          <a:p>
            <a:pPr marL="0" indent="0" algn="ctr">
              <a:buNone/>
            </a:pPr>
            <a:r>
              <a:rPr lang="en-US" sz="1800" b="1" dirty="0">
                <a:solidFill>
                  <a:srgbClr val="0F766E"/>
                </a:solidFill>
              </a:rPr>
              <a:t>Did it act correctly</a:t>
            </a:r>
            <a:endParaRPr lang="en-US" sz="1800" dirty="0"/>
          </a:p>
          <a:p>
            <a:pPr marL="0" indent="0" algn="ctr">
              <a:buNone/>
            </a:pPr>
            <a:r>
              <a:rPr lang="en-US" sz="1800" b="1" dirty="0">
                <a:solidFill>
                  <a:srgbClr val="0F766E"/>
                </a:solidFill>
              </a:rPr>
              <a:t>on the outside world?</a:t>
            </a:r>
            <a:endParaRPr lang="en-US" sz="1800" dirty="0"/>
          </a:p>
        </p:txBody>
      </p:sp>
      <p:sp>
        <p:nvSpPr>
          <p:cNvPr id="22" name="Shape 20"/>
          <p:cNvSpPr/>
          <p:nvPr/>
        </p:nvSpPr>
        <p:spPr>
          <a:xfrm>
            <a:off x="8595360" y="2624328"/>
            <a:ext cx="2560320" cy="0"/>
          </a:xfrm>
          <a:prstGeom prst="line">
            <a:avLst/>
          </a:prstGeom>
          <a:noFill/>
          <a:ln w="12700">
            <a:solidFill>
              <a:srgbClr val="0F766E"/>
            </a:solidFill>
            <a:prstDash val="solid"/>
          </a:ln>
        </p:spPr>
        <p:txBody>
          <a:bodyPr/>
          <a:lstStyle/>
          <a:p>
            <a:endParaRPr lang="en-US"/>
          </a:p>
        </p:txBody>
      </p:sp>
      <p:sp>
        <p:nvSpPr>
          <p:cNvPr id="23" name="Text 21"/>
          <p:cNvSpPr/>
          <p:nvPr/>
        </p:nvSpPr>
        <p:spPr>
          <a:xfrm>
            <a:off x="8503920" y="2606040"/>
            <a:ext cx="2743200" cy="292608"/>
          </a:xfrm>
          <a:prstGeom prst="rect">
            <a:avLst/>
          </a:prstGeom>
          <a:noFill/>
          <a:ln/>
        </p:spPr>
        <p:txBody>
          <a:bodyPr wrap="square" lIns="0" tIns="0" rIns="0" bIns="0" rtlCol="0" anchor="ctr"/>
          <a:lstStyle/>
          <a:p>
            <a:pPr marL="0" indent="0" algn="ctr">
              <a:buNone/>
            </a:pPr>
            <a:r>
              <a:rPr lang="en-US" sz="1350" b="1" dirty="0">
                <a:solidFill>
                  <a:srgbClr val="071A44"/>
                </a:solidFill>
              </a:rPr>
              <a:t>Action Layer</a:t>
            </a:r>
            <a:endParaRPr lang="en-US" sz="1350" dirty="0"/>
          </a:p>
        </p:txBody>
      </p:sp>
      <p:sp>
        <p:nvSpPr>
          <p:cNvPr id="24" name="Shape 22"/>
          <p:cNvSpPr/>
          <p:nvPr/>
        </p:nvSpPr>
        <p:spPr>
          <a:xfrm>
            <a:off x="1783080" y="3657600"/>
            <a:ext cx="3566160" cy="1737360"/>
          </a:xfrm>
          <a:prstGeom prst="roundRect">
            <a:avLst>
              <a:gd name="adj" fmla="val 6316"/>
            </a:avLst>
          </a:prstGeom>
          <a:solidFill>
            <a:srgbClr val="ECFDF3"/>
          </a:solidFill>
          <a:ln w="12700">
            <a:solidFill>
              <a:srgbClr val="078A4A"/>
            </a:solidFill>
            <a:prstDash val="solid"/>
          </a:ln>
        </p:spPr>
        <p:txBody>
          <a:bodyPr/>
          <a:lstStyle/>
          <a:p>
            <a:endParaRPr lang="en-US"/>
          </a:p>
        </p:txBody>
      </p:sp>
      <p:sp>
        <p:nvSpPr>
          <p:cNvPr id="25" name="Shape 23"/>
          <p:cNvSpPr/>
          <p:nvPr/>
        </p:nvSpPr>
        <p:spPr>
          <a:xfrm>
            <a:off x="3410712" y="3822192"/>
            <a:ext cx="310896" cy="310896"/>
          </a:xfrm>
          <a:prstGeom prst="ellipse">
            <a:avLst/>
          </a:prstGeom>
          <a:solidFill>
            <a:srgbClr val="078A4A"/>
          </a:solidFill>
          <a:ln w="12700">
            <a:solidFill>
              <a:srgbClr val="078A4A"/>
            </a:solidFill>
            <a:prstDash val="solid"/>
          </a:ln>
        </p:spPr>
        <p:txBody>
          <a:bodyPr/>
          <a:lstStyle/>
          <a:p>
            <a:endParaRPr lang="en-US"/>
          </a:p>
        </p:txBody>
      </p:sp>
      <p:sp>
        <p:nvSpPr>
          <p:cNvPr id="26" name="Text 24"/>
          <p:cNvSpPr/>
          <p:nvPr/>
        </p:nvSpPr>
        <p:spPr>
          <a:xfrm>
            <a:off x="3410712" y="386791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7" name="Text 25"/>
          <p:cNvSpPr/>
          <p:nvPr/>
        </p:nvSpPr>
        <p:spPr>
          <a:xfrm>
            <a:off x="1947672" y="4315968"/>
            <a:ext cx="3236976" cy="548640"/>
          </a:xfrm>
          <a:prstGeom prst="rect">
            <a:avLst/>
          </a:prstGeom>
          <a:noFill/>
          <a:ln/>
        </p:spPr>
        <p:txBody>
          <a:bodyPr wrap="square" lIns="0" tIns="0" rIns="0" bIns="0" rtlCol="0" anchor="ctr"/>
          <a:lstStyle/>
          <a:p>
            <a:pPr marL="0" indent="0" algn="ctr">
              <a:buNone/>
            </a:pPr>
            <a:r>
              <a:rPr lang="en-US" sz="1800" b="1">
                <a:solidFill>
                  <a:srgbClr val="078A4A"/>
                </a:solidFill>
              </a:rPr>
              <a:t>Did it use the</a:t>
            </a:r>
            <a:endParaRPr lang="en-US" sz="1800"/>
          </a:p>
          <a:p>
            <a:pPr marL="0" indent="0" algn="ctr">
              <a:buNone/>
            </a:pPr>
            <a:r>
              <a:rPr lang="en-US" sz="1800" b="1">
                <a:solidFill>
                  <a:srgbClr val="078A4A"/>
                </a:solidFill>
              </a:rPr>
              <a:t>right context?</a:t>
            </a:r>
            <a:endParaRPr lang="en-US" sz="1800" dirty="0"/>
          </a:p>
        </p:txBody>
      </p:sp>
      <p:sp>
        <p:nvSpPr>
          <p:cNvPr id="28" name="Shape 26"/>
          <p:cNvSpPr/>
          <p:nvPr/>
        </p:nvSpPr>
        <p:spPr>
          <a:xfrm>
            <a:off x="2103120" y="5047488"/>
            <a:ext cx="2926080" cy="0"/>
          </a:xfrm>
          <a:prstGeom prst="line">
            <a:avLst/>
          </a:prstGeom>
          <a:noFill/>
          <a:ln w="12700">
            <a:solidFill>
              <a:srgbClr val="078A4A"/>
            </a:solidFill>
            <a:prstDash val="solid"/>
          </a:ln>
        </p:spPr>
        <p:txBody>
          <a:bodyPr/>
          <a:lstStyle/>
          <a:p>
            <a:endParaRPr lang="en-US"/>
          </a:p>
        </p:txBody>
      </p:sp>
      <p:sp>
        <p:nvSpPr>
          <p:cNvPr id="29" name="Text 27"/>
          <p:cNvSpPr/>
          <p:nvPr/>
        </p:nvSpPr>
        <p:spPr>
          <a:xfrm>
            <a:off x="2011680" y="4983480"/>
            <a:ext cx="3108960" cy="292608"/>
          </a:xfrm>
          <a:prstGeom prst="rect">
            <a:avLst/>
          </a:prstGeom>
          <a:noFill/>
          <a:ln/>
        </p:spPr>
        <p:txBody>
          <a:bodyPr wrap="square" lIns="0" tIns="0" rIns="0" bIns="0" rtlCol="0" anchor="ctr"/>
          <a:lstStyle/>
          <a:p>
            <a:pPr marL="0" indent="0" algn="ctr">
              <a:buNone/>
            </a:pPr>
            <a:r>
              <a:rPr lang="en-US" sz="1350" b="1" dirty="0">
                <a:solidFill>
                  <a:srgbClr val="071A44"/>
                </a:solidFill>
              </a:rPr>
              <a:t>Memory &amp; Context</a:t>
            </a:r>
            <a:endParaRPr lang="en-US" sz="1350" dirty="0"/>
          </a:p>
        </p:txBody>
      </p:sp>
      <p:sp>
        <p:nvSpPr>
          <p:cNvPr id="30" name="Shape 28"/>
          <p:cNvSpPr/>
          <p:nvPr/>
        </p:nvSpPr>
        <p:spPr>
          <a:xfrm>
            <a:off x="6492240" y="3657600"/>
            <a:ext cx="3886200" cy="1737360"/>
          </a:xfrm>
          <a:prstGeom prst="roundRect">
            <a:avLst>
              <a:gd name="adj" fmla="val 6316"/>
            </a:avLst>
          </a:prstGeom>
          <a:solidFill>
            <a:srgbClr val="F5F3FF"/>
          </a:solidFill>
          <a:ln w="12700">
            <a:solidFill>
              <a:srgbClr val="6D28D9"/>
            </a:solidFill>
            <a:prstDash val="solid"/>
          </a:ln>
        </p:spPr>
        <p:txBody>
          <a:bodyPr/>
          <a:lstStyle/>
          <a:p>
            <a:endParaRPr lang="en-US"/>
          </a:p>
        </p:txBody>
      </p:sp>
      <p:sp>
        <p:nvSpPr>
          <p:cNvPr id="31" name="Shape 29"/>
          <p:cNvSpPr/>
          <p:nvPr/>
        </p:nvSpPr>
        <p:spPr>
          <a:xfrm>
            <a:off x="8279892" y="3822192"/>
            <a:ext cx="310896" cy="310896"/>
          </a:xfrm>
          <a:prstGeom prst="ellipse">
            <a:avLst/>
          </a:prstGeom>
          <a:solidFill>
            <a:srgbClr val="6D28D9"/>
          </a:solidFill>
          <a:ln w="12700">
            <a:solidFill>
              <a:srgbClr val="6D28D9"/>
            </a:solidFill>
            <a:prstDash val="solid"/>
          </a:ln>
        </p:spPr>
        <p:txBody>
          <a:bodyPr/>
          <a:lstStyle/>
          <a:p>
            <a:endParaRPr lang="en-US"/>
          </a:p>
        </p:txBody>
      </p:sp>
      <p:sp>
        <p:nvSpPr>
          <p:cNvPr id="32" name="Text 30"/>
          <p:cNvSpPr/>
          <p:nvPr/>
        </p:nvSpPr>
        <p:spPr>
          <a:xfrm>
            <a:off x="8279892" y="3867912"/>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33" name="Text 31"/>
          <p:cNvSpPr/>
          <p:nvPr/>
        </p:nvSpPr>
        <p:spPr>
          <a:xfrm>
            <a:off x="6629400" y="4178808"/>
            <a:ext cx="3557016" cy="548640"/>
          </a:xfrm>
          <a:prstGeom prst="rect">
            <a:avLst/>
          </a:prstGeom>
          <a:noFill/>
          <a:ln/>
        </p:spPr>
        <p:txBody>
          <a:bodyPr wrap="square" lIns="0" tIns="0" rIns="0" bIns="0" rtlCol="0" anchor="ctr"/>
          <a:lstStyle/>
          <a:p>
            <a:pPr marL="0" indent="0" algn="ctr">
              <a:buNone/>
            </a:pPr>
            <a:r>
              <a:rPr lang="en-US" sz="1800" b="1" dirty="0">
                <a:solidFill>
                  <a:srgbClr val="6D28D9"/>
                </a:solidFill>
              </a:rPr>
              <a:t>How do we know what</a:t>
            </a:r>
            <a:endParaRPr lang="en-US" sz="1800" dirty="0"/>
          </a:p>
          <a:p>
            <a:pPr marL="0" indent="0" algn="ctr">
              <a:buNone/>
            </a:pPr>
            <a:r>
              <a:rPr lang="en-US" sz="1800" b="1" dirty="0">
                <a:solidFill>
                  <a:srgbClr val="6D28D9"/>
                </a:solidFill>
              </a:rPr>
              <a:t>really happened?</a:t>
            </a:r>
            <a:endParaRPr lang="en-US" sz="1800" dirty="0"/>
          </a:p>
        </p:txBody>
      </p:sp>
      <p:sp>
        <p:nvSpPr>
          <p:cNvPr id="34" name="Shape 32"/>
          <p:cNvSpPr/>
          <p:nvPr/>
        </p:nvSpPr>
        <p:spPr>
          <a:xfrm>
            <a:off x="6816852" y="4874583"/>
            <a:ext cx="3246120" cy="0"/>
          </a:xfrm>
          <a:prstGeom prst="line">
            <a:avLst/>
          </a:prstGeom>
          <a:noFill/>
          <a:ln w="12700">
            <a:solidFill>
              <a:srgbClr val="6D28D9"/>
            </a:solidFill>
            <a:prstDash val="solid"/>
          </a:ln>
        </p:spPr>
        <p:txBody>
          <a:bodyPr/>
          <a:lstStyle/>
          <a:p>
            <a:endParaRPr lang="en-US"/>
          </a:p>
        </p:txBody>
      </p:sp>
      <p:sp>
        <p:nvSpPr>
          <p:cNvPr id="35" name="Text 33"/>
          <p:cNvSpPr/>
          <p:nvPr/>
        </p:nvSpPr>
        <p:spPr>
          <a:xfrm>
            <a:off x="6720840" y="4864608"/>
            <a:ext cx="3429000" cy="411480"/>
          </a:xfrm>
          <a:prstGeom prst="rect">
            <a:avLst/>
          </a:prstGeom>
          <a:noFill/>
          <a:ln/>
        </p:spPr>
        <p:txBody>
          <a:bodyPr wrap="square" lIns="0" tIns="0" rIns="0" bIns="0" rtlCol="0" anchor="ctr"/>
          <a:lstStyle/>
          <a:p>
            <a:pPr marL="0" indent="0" algn="ctr">
              <a:buNone/>
            </a:pPr>
            <a:r>
              <a:rPr lang="en-US" sz="1350" b="1" dirty="0">
                <a:solidFill>
                  <a:srgbClr val="071A44"/>
                </a:solidFill>
              </a:rPr>
              <a:t>Telemetry, Observability &amp;</a:t>
            </a:r>
            <a:endParaRPr lang="en-US" sz="1350" dirty="0"/>
          </a:p>
          <a:p>
            <a:pPr marL="0" indent="0" algn="ctr">
              <a:buNone/>
            </a:pPr>
            <a:r>
              <a:rPr lang="en-US" sz="1350" b="1" dirty="0">
                <a:solidFill>
                  <a:srgbClr val="071A44"/>
                </a:solidFill>
              </a:rPr>
              <a:t>Continuous Evaluation</a:t>
            </a:r>
            <a:endParaRPr lang="en-US" sz="1350" dirty="0"/>
          </a:p>
        </p:txBody>
      </p:sp>
      <p:sp>
        <p:nvSpPr>
          <p:cNvPr id="36" name="Shape 34"/>
          <p:cNvSpPr/>
          <p:nvPr/>
        </p:nvSpPr>
        <p:spPr>
          <a:xfrm>
            <a:off x="1234440" y="5833872"/>
            <a:ext cx="9692640" cy="502920"/>
          </a:xfrm>
          <a:prstGeom prst="roundRect">
            <a:avLst>
              <a:gd name="adj" fmla="val 21818"/>
            </a:avLst>
          </a:prstGeom>
          <a:solidFill>
            <a:srgbClr val="F8FAFC"/>
          </a:solidFill>
          <a:ln w="12700">
            <a:solidFill>
              <a:srgbClr val="E2E8F0"/>
            </a:solidFill>
            <a:prstDash val="solid"/>
          </a:ln>
        </p:spPr>
        <p:txBody>
          <a:bodyPr/>
          <a:lstStyle/>
          <a:p>
            <a:endParaRPr lang="en-US"/>
          </a:p>
        </p:txBody>
      </p:sp>
      <p:sp>
        <p:nvSpPr>
          <p:cNvPr id="37" name="Text 35"/>
          <p:cNvSpPr/>
          <p:nvPr/>
        </p:nvSpPr>
        <p:spPr>
          <a:xfrm>
            <a:off x="1508760" y="5980176"/>
            <a:ext cx="1828800" cy="137160"/>
          </a:xfrm>
          <a:prstGeom prst="rect">
            <a:avLst/>
          </a:prstGeom>
          <a:noFill/>
          <a:ln/>
        </p:spPr>
        <p:txBody>
          <a:bodyPr wrap="square" lIns="0" tIns="0" rIns="0" bIns="0" rtlCol="0" anchor="ctr"/>
          <a:lstStyle/>
          <a:p>
            <a:pPr marL="0" indent="0">
              <a:buNone/>
            </a:pPr>
            <a:r>
              <a:rPr lang="en-US" sz="1050" b="1" dirty="0">
                <a:solidFill>
                  <a:srgbClr val="0F172A"/>
                </a:solidFill>
              </a:rPr>
              <a:t>For each question, QA can ask:</a:t>
            </a:r>
            <a:endParaRPr lang="en-US" sz="1050" dirty="0"/>
          </a:p>
        </p:txBody>
      </p:sp>
      <p:sp>
        <p:nvSpPr>
          <p:cNvPr id="38" name="Text 36"/>
          <p:cNvSpPr/>
          <p:nvPr/>
        </p:nvSpPr>
        <p:spPr>
          <a:xfrm>
            <a:off x="3337560" y="5980176"/>
            <a:ext cx="914400" cy="137160"/>
          </a:xfrm>
          <a:prstGeom prst="rect">
            <a:avLst/>
          </a:prstGeom>
          <a:noFill/>
          <a:ln/>
        </p:spPr>
        <p:txBody>
          <a:bodyPr wrap="square" lIns="0" tIns="0" rIns="0" bIns="0" rtlCol="0" anchor="ctr"/>
          <a:lstStyle/>
          <a:p>
            <a:pPr marL="0" indent="0" algn="ctr">
              <a:buNone/>
            </a:pPr>
            <a:r>
              <a:rPr lang="en-US" sz="1050" b="1" dirty="0">
                <a:solidFill>
                  <a:srgbClr val="E11D48"/>
                </a:solidFill>
              </a:rPr>
              <a:t>Risk</a:t>
            </a:r>
            <a:endParaRPr lang="en-US" sz="1050" dirty="0"/>
          </a:p>
        </p:txBody>
      </p:sp>
      <p:sp>
        <p:nvSpPr>
          <p:cNvPr id="39" name="Text 37"/>
          <p:cNvSpPr/>
          <p:nvPr/>
        </p:nvSpPr>
        <p:spPr>
          <a:xfrm>
            <a:off x="4754880" y="5980176"/>
            <a:ext cx="914400" cy="137160"/>
          </a:xfrm>
          <a:prstGeom prst="rect">
            <a:avLst/>
          </a:prstGeom>
          <a:noFill/>
          <a:ln/>
        </p:spPr>
        <p:txBody>
          <a:bodyPr wrap="square" lIns="0" tIns="0" rIns="0" bIns="0" rtlCol="0" anchor="ctr"/>
          <a:lstStyle/>
          <a:p>
            <a:pPr marL="0" indent="0" algn="ctr">
              <a:buNone/>
            </a:pPr>
            <a:r>
              <a:rPr lang="en-US" sz="1050" b="1" dirty="0">
                <a:solidFill>
                  <a:srgbClr val="078A4A"/>
                </a:solidFill>
              </a:rPr>
              <a:t>Evidence</a:t>
            </a:r>
            <a:endParaRPr lang="en-US" sz="1050" dirty="0"/>
          </a:p>
        </p:txBody>
      </p:sp>
      <p:sp>
        <p:nvSpPr>
          <p:cNvPr id="40" name="Text 38"/>
          <p:cNvSpPr/>
          <p:nvPr/>
        </p:nvSpPr>
        <p:spPr>
          <a:xfrm>
            <a:off x="6172200" y="5980176"/>
            <a:ext cx="914400" cy="137160"/>
          </a:xfrm>
          <a:prstGeom prst="rect">
            <a:avLst/>
          </a:prstGeom>
          <a:noFill/>
          <a:ln/>
        </p:spPr>
        <p:txBody>
          <a:bodyPr wrap="square" lIns="0" tIns="0" rIns="0" bIns="0" rtlCol="0" anchor="ctr"/>
          <a:lstStyle/>
          <a:p>
            <a:pPr marL="0" indent="0" algn="ctr">
              <a:buNone/>
            </a:pPr>
            <a:r>
              <a:rPr lang="en-US" sz="1050" b="1" dirty="0">
                <a:solidFill>
                  <a:srgbClr val="F97316"/>
                </a:solidFill>
              </a:rPr>
              <a:t>Oracle</a:t>
            </a:r>
            <a:endParaRPr lang="en-US" sz="1050" dirty="0"/>
          </a:p>
        </p:txBody>
      </p:sp>
      <p:sp>
        <p:nvSpPr>
          <p:cNvPr id="41" name="Text 39"/>
          <p:cNvSpPr/>
          <p:nvPr/>
        </p:nvSpPr>
        <p:spPr>
          <a:xfrm>
            <a:off x="7589520" y="5980176"/>
            <a:ext cx="914400" cy="137160"/>
          </a:xfrm>
          <a:prstGeom prst="rect">
            <a:avLst/>
          </a:prstGeom>
          <a:noFill/>
          <a:ln/>
        </p:spPr>
        <p:txBody>
          <a:bodyPr wrap="square" lIns="0" tIns="0" rIns="0" bIns="0" rtlCol="0" anchor="ctr"/>
          <a:lstStyle/>
          <a:p>
            <a:pPr marL="0" indent="0" algn="ctr">
              <a:buNone/>
            </a:pPr>
            <a:r>
              <a:rPr lang="en-US" sz="1050" b="1" dirty="0">
                <a:solidFill>
                  <a:srgbClr val="155EEF"/>
                </a:solidFill>
              </a:rPr>
              <a:t>Roles</a:t>
            </a:r>
            <a:endParaRPr lang="en-US" sz="1050" dirty="0"/>
          </a:p>
        </p:txBody>
      </p:sp>
      <p:sp>
        <p:nvSpPr>
          <p:cNvPr id="42" name="Text 40"/>
          <p:cNvSpPr/>
          <p:nvPr/>
        </p:nvSpPr>
        <p:spPr>
          <a:xfrm>
            <a:off x="9006840" y="5980176"/>
            <a:ext cx="914400" cy="137160"/>
          </a:xfrm>
          <a:prstGeom prst="rect">
            <a:avLst/>
          </a:prstGeom>
          <a:noFill/>
          <a:ln/>
        </p:spPr>
        <p:txBody>
          <a:bodyPr wrap="square" lIns="0" tIns="0" rIns="0" bIns="0" rtlCol="0" anchor="ctr"/>
          <a:lstStyle/>
          <a:p>
            <a:pPr marL="0" indent="0" algn="ctr">
              <a:buNone/>
            </a:pPr>
            <a:r>
              <a:rPr lang="en-US" sz="1050" b="1" dirty="0">
                <a:solidFill>
                  <a:srgbClr val="6D28D9"/>
                </a:solidFill>
              </a:rPr>
              <a:t>Tools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How to read every domain</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The same six questions turn architecture into test strategy</a:t>
            </a:r>
            <a:endParaRPr lang="en-US" sz="1250" dirty="0"/>
          </a:p>
        </p:txBody>
      </p:sp>
      <p:sp>
        <p:nvSpPr>
          <p:cNvPr id="6" name="Shape 4"/>
          <p:cNvSpPr/>
          <p:nvPr/>
        </p:nvSpPr>
        <p:spPr>
          <a:xfrm>
            <a:off x="685800" y="1325880"/>
            <a:ext cx="3246120" cy="1508760"/>
          </a:xfrm>
          <a:prstGeom prst="roundRect">
            <a:avLst>
              <a:gd name="adj" fmla="val 7273"/>
            </a:avLst>
          </a:prstGeom>
          <a:solidFill>
            <a:srgbClr val="FFF1F2"/>
          </a:solidFill>
          <a:ln w="12700">
            <a:solidFill>
              <a:srgbClr val="E11D48"/>
            </a:solidFill>
            <a:prstDash val="solid"/>
          </a:ln>
        </p:spPr>
        <p:txBody>
          <a:bodyPr/>
          <a:lstStyle/>
          <a:p>
            <a:endParaRPr lang="en-US"/>
          </a:p>
        </p:txBody>
      </p:sp>
      <p:sp>
        <p:nvSpPr>
          <p:cNvPr id="7" name="Text 5"/>
          <p:cNvSpPr/>
          <p:nvPr/>
        </p:nvSpPr>
        <p:spPr>
          <a:xfrm>
            <a:off x="914400" y="1554480"/>
            <a:ext cx="2743200" cy="228600"/>
          </a:xfrm>
          <a:prstGeom prst="rect">
            <a:avLst/>
          </a:prstGeom>
          <a:noFill/>
          <a:ln/>
        </p:spPr>
        <p:txBody>
          <a:bodyPr wrap="square" lIns="0" tIns="0" rIns="0" bIns="0" rtlCol="0" anchor="ctr"/>
          <a:lstStyle/>
          <a:p>
            <a:pPr marL="0" indent="0" algn="ctr">
              <a:buNone/>
            </a:pPr>
            <a:r>
              <a:rPr lang="en-US" sz="1900" b="1" dirty="0">
                <a:solidFill>
                  <a:srgbClr val="E11D48"/>
                </a:solidFill>
              </a:rPr>
              <a:t>Risk</a:t>
            </a:r>
            <a:endParaRPr lang="en-US" sz="1900" dirty="0"/>
          </a:p>
        </p:txBody>
      </p:sp>
      <p:sp>
        <p:nvSpPr>
          <p:cNvPr id="8" name="Text 6"/>
          <p:cNvSpPr/>
          <p:nvPr/>
        </p:nvSpPr>
        <p:spPr>
          <a:xfrm>
            <a:off x="1005840" y="203911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What can go wrong here?</a:t>
            </a:r>
            <a:endParaRPr lang="en-US" sz="1300" dirty="0"/>
          </a:p>
        </p:txBody>
      </p:sp>
      <p:sp>
        <p:nvSpPr>
          <p:cNvPr id="9" name="Shape 7"/>
          <p:cNvSpPr/>
          <p:nvPr/>
        </p:nvSpPr>
        <p:spPr>
          <a:xfrm>
            <a:off x="4389120" y="1325880"/>
            <a:ext cx="3246120" cy="1508760"/>
          </a:xfrm>
          <a:prstGeom prst="roundRect">
            <a:avLst>
              <a:gd name="adj" fmla="val 7273"/>
            </a:avLst>
          </a:prstGeom>
          <a:solidFill>
            <a:srgbClr val="ECFDF3"/>
          </a:solidFill>
          <a:ln w="12700">
            <a:solidFill>
              <a:srgbClr val="078A4A"/>
            </a:solidFill>
            <a:prstDash val="solid"/>
          </a:ln>
        </p:spPr>
        <p:txBody>
          <a:bodyPr/>
          <a:lstStyle/>
          <a:p>
            <a:endParaRPr lang="en-US"/>
          </a:p>
        </p:txBody>
      </p:sp>
      <p:sp>
        <p:nvSpPr>
          <p:cNvPr id="10" name="Text 8"/>
          <p:cNvSpPr/>
          <p:nvPr/>
        </p:nvSpPr>
        <p:spPr>
          <a:xfrm>
            <a:off x="4617720" y="1554480"/>
            <a:ext cx="2743200" cy="228600"/>
          </a:xfrm>
          <a:prstGeom prst="rect">
            <a:avLst/>
          </a:prstGeom>
          <a:noFill/>
          <a:ln/>
        </p:spPr>
        <p:txBody>
          <a:bodyPr wrap="square" lIns="0" tIns="0" rIns="0" bIns="0" rtlCol="0" anchor="ctr"/>
          <a:lstStyle/>
          <a:p>
            <a:pPr marL="0" indent="0" algn="ctr">
              <a:buNone/>
            </a:pPr>
            <a:r>
              <a:rPr lang="en-US" sz="1900" b="1" dirty="0">
                <a:solidFill>
                  <a:srgbClr val="078A4A"/>
                </a:solidFill>
              </a:rPr>
              <a:t>Evidence</a:t>
            </a:r>
            <a:endParaRPr lang="en-US" sz="1900" dirty="0"/>
          </a:p>
        </p:txBody>
      </p:sp>
      <p:sp>
        <p:nvSpPr>
          <p:cNvPr id="11" name="Text 9"/>
          <p:cNvSpPr/>
          <p:nvPr/>
        </p:nvSpPr>
        <p:spPr>
          <a:xfrm>
            <a:off x="4709160" y="203911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What observable proof do we need?</a:t>
            </a:r>
            <a:endParaRPr lang="en-US" sz="1300" dirty="0"/>
          </a:p>
        </p:txBody>
      </p:sp>
      <p:sp>
        <p:nvSpPr>
          <p:cNvPr id="12" name="Shape 10"/>
          <p:cNvSpPr/>
          <p:nvPr/>
        </p:nvSpPr>
        <p:spPr>
          <a:xfrm>
            <a:off x="8092440" y="1325880"/>
            <a:ext cx="3246120" cy="1508760"/>
          </a:xfrm>
          <a:prstGeom prst="roundRect">
            <a:avLst>
              <a:gd name="adj" fmla="val 7273"/>
            </a:avLst>
          </a:prstGeom>
          <a:solidFill>
            <a:srgbClr val="FFF3E8"/>
          </a:solidFill>
          <a:ln w="12700">
            <a:solidFill>
              <a:srgbClr val="F97316"/>
            </a:solidFill>
            <a:prstDash val="solid"/>
          </a:ln>
        </p:spPr>
        <p:txBody>
          <a:bodyPr/>
          <a:lstStyle/>
          <a:p>
            <a:endParaRPr lang="en-US"/>
          </a:p>
        </p:txBody>
      </p:sp>
      <p:sp>
        <p:nvSpPr>
          <p:cNvPr id="13" name="Text 11"/>
          <p:cNvSpPr/>
          <p:nvPr/>
        </p:nvSpPr>
        <p:spPr>
          <a:xfrm>
            <a:off x="8321040" y="1554480"/>
            <a:ext cx="2743200" cy="228600"/>
          </a:xfrm>
          <a:prstGeom prst="rect">
            <a:avLst/>
          </a:prstGeom>
          <a:noFill/>
          <a:ln/>
        </p:spPr>
        <p:txBody>
          <a:bodyPr wrap="square" lIns="0" tIns="0" rIns="0" bIns="0" rtlCol="0" anchor="ctr"/>
          <a:lstStyle/>
          <a:p>
            <a:pPr marL="0" indent="0" algn="ctr">
              <a:buNone/>
            </a:pPr>
            <a:r>
              <a:rPr lang="en-US" sz="1900" b="1" dirty="0">
                <a:solidFill>
                  <a:srgbClr val="F97316"/>
                </a:solidFill>
              </a:rPr>
              <a:t>Oracle</a:t>
            </a:r>
            <a:endParaRPr lang="en-US" sz="1900" dirty="0"/>
          </a:p>
        </p:txBody>
      </p:sp>
      <p:sp>
        <p:nvSpPr>
          <p:cNvPr id="14" name="Text 12"/>
          <p:cNvSpPr/>
          <p:nvPr/>
        </p:nvSpPr>
        <p:spPr>
          <a:xfrm>
            <a:off x="8412480" y="203911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What tells us pass/fail or acceptable behavior?</a:t>
            </a:r>
            <a:endParaRPr lang="en-US" sz="1300" dirty="0"/>
          </a:p>
        </p:txBody>
      </p:sp>
      <p:sp>
        <p:nvSpPr>
          <p:cNvPr id="15" name="Shape 13"/>
          <p:cNvSpPr/>
          <p:nvPr/>
        </p:nvSpPr>
        <p:spPr>
          <a:xfrm>
            <a:off x="685800" y="3337560"/>
            <a:ext cx="3246120" cy="1508760"/>
          </a:xfrm>
          <a:prstGeom prst="roundRect">
            <a:avLst>
              <a:gd name="adj" fmla="val 7273"/>
            </a:avLst>
          </a:prstGeom>
          <a:solidFill>
            <a:srgbClr val="EAF2FF"/>
          </a:solidFill>
          <a:ln w="12700">
            <a:solidFill>
              <a:srgbClr val="155EEF"/>
            </a:solidFill>
            <a:prstDash val="solid"/>
          </a:ln>
        </p:spPr>
        <p:txBody>
          <a:bodyPr/>
          <a:lstStyle/>
          <a:p>
            <a:endParaRPr lang="en-US"/>
          </a:p>
        </p:txBody>
      </p:sp>
      <p:sp>
        <p:nvSpPr>
          <p:cNvPr id="16" name="Text 14"/>
          <p:cNvSpPr/>
          <p:nvPr/>
        </p:nvSpPr>
        <p:spPr>
          <a:xfrm>
            <a:off x="914400" y="3566160"/>
            <a:ext cx="2743200" cy="228600"/>
          </a:xfrm>
          <a:prstGeom prst="rect">
            <a:avLst/>
          </a:prstGeom>
          <a:noFill/>
          <a:ln/>
        </p:spPr>
        <p:txBody>
          <a:bodyPr wrap="square" lIns="0" tIns="0" rIns="0" bIns="0" rtlCol="0" anchor="ctr"/>
          <a:lstStyle/>
          <a:p>
            <a:pPr marL="0" indent="0" algn="ctr">
              <a:buNone/>
            </a:pPr>
            <a:r>
              <a:rPr lang="en-US" sz="1900" b="1" dirty="0">
                <a:solidFill>
                  <a:srgbClr val="155EEF"/>
                </a:solidFill>
              </a:rPr>
              <a:t>Roles</a:t>
            </a:r>
            <a:endParaRPr lang="en-US" sz="1900" dirty="0"/>
          </a:p>
        </p:txBody>
      </p:sp>
      <p:sp>
        <p:nvSpPr>
          <p:cNvPr id="17" name="Text 15"/>
          <p:cNvSpPr/>
          <p:nvPr/>
        </p:nvSpPr>
        <p:spPr>
          <a:xfrm>
            <a:off x="1005840" y="405079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Who should be involved?</a:t>
            </a:r>
            <a:endParaRPr lang="en-US" sz="1300" dirty="0"/>
          </a:p>
        </p:txBody>
      </p:sp>
      <p:sp>
        <p:nvSpPr>
          <p:cNvPr id="18" name="Shape 16"/>
          <p:cNvSpPr/>
          <p:nvPr/>
        </p:nvSpPr>
        <p:spPr>
          <a:xfrm>
            <a:off x="4389120" y="3337560"/>
            <a:ext cx="3246120" cy="1508760"/>
          </a:xfrm>
          <a:prstGeom prst="roundRect">
            <a:avLst>
              <a:gd name="adj" fmla="val 7273"/>
            </a:avLst>
          </a:prstGeom>
          <a:solidFill>
            <a:srgbClr val="F5F3FF"/>
          </a:solidFill>
          <a:ln w="12700">
            <a:solidFill>
              <a:srgbClr val="6D28D9"/>
            </a:solidFill>
            <a:prstDash val="solid"/>
          </a:ln>
        </p:spPr>
        <p:txBody>
          <a:bodyPr/>
          <a:lstStyle/>
          <a:p>
            <a:endParaRPr lang="en-US"/>
          </a:p>
        </p:txBody>
      </p:sp>
      <p:sp>
        <p:nvSpPr>
          <p:cNvPr id="19" name="Text 17"/>
          <p:cNvSpPr/>
          <p:nvPr/>
        </p:nvSpPr>
        <p:spPr>
          <a:xfrm>
            <a:off x="4617720" y="3566160"/>
            <a:ext cx="2743200" cy="228600"/>
          </a:xfrm>
          <a:prstGeom prst="rect">
            <a:avLst/>
          </a:prstGeom>
          <a:noFill/>
          <a:ln/>
        </p:spPr>
        <p:txBody>
          <a:bodyPr wrap="square" lIns="0" tIns="0" rIns="0" bIns="0" rtlCol="0" anchor="ctr"/>
          <a:lstStyle/>
          <a:p>
            <a:pPr marL="0" indent="0" algn="ctr">
              <a:buNone/>
            </a:pPr>
            <a:r>
              <a:rPr lang="en-US" sz="1900" b="1" dirty="0">
                <a:solidFill>
                  <a:srgbClr val="6D28D9"/>
                </a:solidFill>
              </a:rPr>
              <a:t>Tools</a:t>
            </a:r>
            <a:endParaRPr lang="en-US" sz="1900" dirty="0"/>
          </a:p>
        </p:txBody>
      </p:sp>
      <p:sp>
        <p:nvSpPr>
          <p:cNvPr id="20" name="Text 18"/>
          <p:cNvSpPr/>
          <p:nvPr/>
        </p:nvSpPr>
        <p:spPr>
          <a:xfrm>
            <a:off x="4709160" y="405079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What helps us automate or evaluate?</a:t>
            </a:r>
            <a:endParaRPr lang="en-US" sz="1300" dirty="0"/>
          </a:p>
        </p:txBody>
      </p:sp>
      <p:sp>
        <p:nvSpPr>
          <p:cNvPr id="21" name="Shape 19"/>
          <p:cNvSpPr/>
          <p:nvPr/>
        </p:nvSpPr>
        <p:spPr>
          <a:xfrm>
            <a:off x="8092440" y="3337560"/>
            <a:ext cx="3246120" cy="1508760"/>
          </a:xfrm>
          <a:prstGeom prst="roundRect">
            <a:avLst>
              <a:gd name="adj" fmla="val 7273"/>
            </a:avLst>
          </a:prstGeom>
          <a:solidFill>
            <a:srgbClr val="ECFEFF"/>
          </a:solidFill>
          <a:ln w="12700">
            <a:solidFill>
              <a:srgbClr val="0F766E"/>
            </a:solidFill>
            <a:prstDash val="solid"/>
          </a:ln>
        </p:spPr>
        <p:txBody>
          <a:bodyPr/>
          <a:lstStyle/>
          <a:p>
            <a:endParaRPr lang="en-US"/>
          </a:p>
        </p:txBody>
      </p:sp>
      <p:sp>
        <p:nvSpPr>
          <p:cNvPr id="22" name="Text 20"/>
          <p:cNvSpPr/>
          <p:nvPr/>
        </p:nvSpPr>
        <p:spPr>
          <a:xfrm>
            <a:off x="8321040" y="3566160"/>
            <a:ext cx="2743200" cy="228600"/>
          </a:xfrm>
          <a:prstGeom prst="rect">
            <a:avLst/>
          </a:prstGeom>
          <a:noFill/>
          <a:ln/>
        </p:spPr>
        <p:txBody>
          <a:bodyPr wrap="square" lIns="0" tIns="0" rIns="0" bIns="0" rtlCol="0" anchor="ctr"/>
          <a:lstStyle/>
          <a:p>
            <a:pPr marL="0" indent="0" algn="ctr">
              <a:buNone/>
            </a:pPr>
            <a:r>
              <a:rPr lang="en-US" sz="1900" b="1" dirty="0">
                <a:solidFill>
                  <a:srgbClr val="0F766E"/>
                </a:solidFill>
              </a:rPr>
              <a:t>Example fit</a:t>
            </a:r>
            <a:endParaRPr lang="en-US" sz="1900" dirty="0"/>
          </a:p>
        </p:txBody>
      </p:sp>
      <p:sp>
        <p:nvSpPr>
          <p:cNvPr id="23" name="Text 21"/>
          <p:cNvSpPr/>
          <p:nvPr/>
        </p:nvSpPr>
        <p:spPr>
          <a:xfrm>
            <a:off x="8412480" y="4050792"/>
            <a:ext cx="2606040" cy="320040"/>
          </a:xfrm>
          <a:prstGeom prst="rect">
            <a:avLst/>
          </a:prstGeom>
          <a:noFill/>
          <a:ln/>
        </p:spPr>
        <p:txBody>
          <a:bodyPr wrap="square" lIns="0" tIns="0" rIns="0" bIns="0" rtlCol="0" anchor="ctr"/>
          <a:lstStyle/>
          <a:p>
            <a:pPr marL="0" indent="0" algn="ctr">
              <a:buNone/>
            </a:pPr>
            <a:r>
              <a:rPr lang="en-US" sz="1300" dirty="0">
                <a:solidFill>
                  <a:srgbClr val="0F172A"/>
                </a:solidFill>
              </a:rPr>
              <a:t>Where could a framework like AgentEval illustrate it?</a:t>
            </a:r>
            <a:endParaRPr lang="en-US" sz="1300" dirty="0"/>
          </a:p>
        </p:txBody>
      </p:sp>
      <p:sp>
        <p:nvSpPr>
          <p:cNvPr id="24" name="Shape 22"/>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5" name="Text 23"/>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Question first. Architecture second. Evidence always.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Question 1 and 2: permission and path</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Policy boundary + reasoning and orchestration</a:t>
            </a:r>
            <a:endParaRPr lang="en-US" sz="1250" dirty="0"/>
          </a:p>
        </p:txBody>
      </p:sp>
      <p:sp>
        <p:nvSpPr>
          <p:cNvPr id="6" name="Shape 4"/>
          <p:cNvSpPr/>
          <p:nvPr/>
        </p:nvSpPr>
        <p:spPr>
          <a:xfrm>
            <a:off x="685800" y="1170432"/>
            <a:ext cx="5303520" cy="4480560"/>
          </a:xfrm>
          <a:prstGeom prst="roundRect">
            <a:avLst>
              <a:gd name="adj" fmla="val 2449"/>
            </a:avLst>
          </a:prstGeom>
          <a:solidFill>
            <a:srgbClr val="FFF1F2"/>
          </a:solidFill>
          <a:ln w="12700">
            <a:solidFill>
              <a:srgbClr val="E11D48"/>
            </a:solidFill>
            <a:prstDash val="solid"/>
          </a:ln>
        </p:spPr>
        <p:txBody>
          <a:bodyPr/>
          <a:lstStyle/>
          <a:p>
            <a:endParaRPr lang="en-US"/>
          </a:p>
        </p:txBody>
      </p:sp>
      <p:sp>
        <p:nvSpPr>
          <p:cNvPr id="7" name="Shape 5"/>
          <p:cNvSpPr/>
          <p:nvPr/>
        </p:nvSpPr>
        <p:spPr>
          <a:xfrm>
            <a:off x="914400" y="1389888"/>
            <a:ext cx="310896" cy="310896"/>
          </a:xfrm>
          <a:prstGeom prst="ellipse">
            <a:avLst/>
          </a:prstGeom>
          <a:solidFill>
            <a:srgbClr val="E11D48"/>
          </a:solidFill>
          <a:ln w="12700">
            <a:solidFill>
              <a:srgbClr val="E11D48"/>
            </a:solidFill>
            <a:prstDash val="solid"/>
          </a:ln>
        </p:spPr>
        <p:txBody>
          <a:bodyPr/>
          <a:lstStyle/>
          <a:p>
            <a:endParaRPr lang="en-US"/>
          </a:p>
        </p:txBody>
      </p:sp>
      <p:sp>
        <p:nvSpPr>
          <p:cNvPr id="8" name="Text 6"/>
          <p:cNvSpPr/>
          <p:nvPr/>
        </p:nvSpPr>
        <p:spPr>
          <a:xfrm>
            <a:off x="914400" y="143560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325880" y="1353312"/>
            <a:ext cx="4114800" cy="228600"/>
          </a:xfrm>
          <a:prstGeom prst="rect">
            <a:avLst/>
          </a:prstGeom>
          <a:noFill/>
          <a:ln/>
        </p:spPr>
        <p:txBody>
          <a:bodyPr wrap="square" lIns="0" tIns="0" rIns="0" bIns="0" rtlCol="0" anchor="ctr"/>
          <a:lstStyle/>
          <a:p>
            <a:pPr marL="0" indent="0">
              <a:buNone/>
            </a:pPr>
            <a:r>
              <a:rPr lang="en-US" sz="2000" b="1" dirty="0">
                <a:solidFill>
                  <a:srgbClr val="E11D48"/>
                </a:solidFill>
              </a:rPr>
              <a:t>Can the system do this?</a:t>
            </a:r>
            <a:endParaRPr lang="en-US" sz="2000" dirty="0"/>
          </a:p>
        </p:txBody>
      </p:sp>
      <p:sp>
        <p:nvSpPr>
          <p:cNvPr id="10" name="Text 8"/>
          <p:cNvSpPr/>
          <p:nvPr/>
        </p:nvSpPr>
        <p:spPr>
          <a:xfrm>
            <a:off x="1325880" y="1700784"/>
            <a:ext cx="2926080" cy="228600"/>
          </a:xfrm>
          <a:prstGeom prst="rect">
            <a:avLst/>
          </a:prstGeom>
          <a:noFill/>
          <a:ln/>
        </p:spPr>
        <p:txBody>
          <a:bodyPr wrap="square" lIns="0" tIns="0" rIns="0" bIns="0" rtlCol="0" anchor="ctr"/>
          <a:lstStyle/>
          <a:p>
            <a:pPr marL="0" indent="0">
              <a:buNone/>
            </a:pPr>
            <a:r>
              <a:rPr lang="en-US" sz="1500" b="1" dirty="0">
                <a:solidFill>
                  <a:srgbClr val="071A44"/>
                </a:solidFill>
              </a:rPr>
              <a:t>Policy Boundary</a:t>
            </a:r>
            <a:endParaRPr lang="en-US" sz="1500" dirty="0"/>
          </a:p>
        </p:txBody>
      </p:sp>
      <p:sp>
        <p:nvSpPr>
          <p:cNvPr id="11" name="Text 9"/>
          <p:cNvSpPr/>
          <p:nvPr/>
        </p:nvSpPr>
        <p:spPr>
          <a:xfrm>
            <a:off x="1024128" y="224028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Jailbreaks, prompt injection, PII leakage</a:t>
            </a:r>
            <a:endParaRPr lang="en-US" sz="1200" dirty="0"/>
          </a:p>
        </p:txBody>
      </p:sp>
      <p:sp>
        <p:nvSpPr>
          <p:cNvPr id="12" name="Text 10"/>
          <p:cNvSpPr/>
          <p:nvPr/>
        </p:nvSpPr>
        <p:spPr>
          <a:xfrm>
            <a:off x="1024128" y="265176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Evidence: adversarial prompts and policy cases</a:t>
            </a:r>
            <a:endParaRPr lang="en-US" sz="1200" dirty="0"/>
          </a:p>
        </p:txBody>
      </p:sp>
      <p:sp>
        <p:nvSpPr>
          <p:cNvPr id="13" name="Text 11"/>
          <p:cNvSpPr/>
          <p:nvPr/>
        </p:nvSpPr>
        <p:spPr>
          <a:xfrm>
            <a:off x="1024128" y="306324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Oracle: policy-based pass/fail and severity</a:t>
            </a:r>
            <a:endParaRPr lang="en-US" sz="1200" dirty="0"/>
          </a:p>
        </p:txBody>
      </p:sp>
      <p:sp>
        <p:nvSpPr>
          <p:cNvPr id="14" name="Text 12"/>
          <p:cNvSpPr/>
          <p:nvPr/>
        </p:nvSpPr>
        <p:spPr>
          <a:xfrm>
            <a:off x="1024128" y="347472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Roles: QA, Red Team, AppSec, Trust &amp; Safety</a:t>
            </a:r>
            <a:endParaRPr lang="en-US" sz="1200" dirty="0"/>
          </a:p>
        </p:txBody>
      </p:sp>
      <p:sp>
        <p:nvSpPr>
          <p:cNvPr id="15" name="Text 13"/>
          <p:cNvSpPr/>
          <p:nvPr/>
        </p:nvSpPr>
        <p:spPr>
          <a:xfrm>
            <a:off x="1024128" y="4069080"/>
            <a:ext cx="4480560" cy="256032"/>
          </a:xfrm>
          <a:prstGeom prst="rect">
            <a:avLst/>
          </a:prstGeom>
          <a:noFill/>
          <a:ln/>
        </p:spPr>
        <p:txBody>
          <a:bodyPr wrap="square" lIns="0" tIns="0" rIns="0" bIns="0" rtlCol="0" anchor="ctr"/>
          <a:lstStyle/>
          <a:p>
            <a:pPr marL="0" indent="0">
              <a:buNone/>
            </a:pPr>
            <a:r>
              <a:rPr lang="en-US" sz="1220" b="1" dirty="0">
                <a:solidFill>
                  <a:srgbClr val="E11D48"/>
                </a:solidFill>
              </a:rPr>
              <a:t>Example tools: DeepEval, Giskard, Promptfoo, Guardrails</a:t>
            </a:r>
            <a:endParaRPr lang="en-US" sz="1220" dirty="0"/>
          </a:p>
        </p:txBody>
      </p:sp>
      <p:sp>
        <p:nvSpPr>
          <p:cNvPr id="16" name="Shape 14"/>
          <p:cNvSpPr/>
          <p:nvPr/>
        </p:nvSpPr>
        <p:spPr>
          <a:xfrm>
            <a:off x="6217920" y="1170432"/>
            <a:ext cx="5303520" cy="4480560"/>
          </a:xfrm>
          <a:prstGeom prst="roundRect">
            <a:avLst>
              <a:gd name="adj" fmla="val 2449"/>
            </a:avLst>
          </a:prstGeom>
          <a:solidFill>
            <a:srgbClr val="FFF3E8"/>
          </a:solidFill>
          <a:ln w="12700">
            <a:solidFill>
              <a:srgbClr val="F97316"/>
            </a:solidFill>
            <a:prstDash val="solid"/>
          </a:ln>
        </p:spPr>
        <p:txBody>
          <a:bodyPr/>
          <a:lstStyle/>
          <a:p>
            <a:endParaRPr lang="en-US"/>
          </a:p>
        </p:txBody>
      </p:sp>
      <p:sp>
        <p:nvSpPr>
          <p:cNvPr id="17" name="Shape 15"/>
          <p:cNvSpPr/>
          <p:nvPr/>
        </p:nvSpPr>
        <p:spPr>
          <a:xfrm>
            <a:off x="6446520" y="1389888"/>
            <a:ext cx="310896" cy="310896"/>
          </a:xfrm>
          <a:prstGeom prst="ellipse">
            <a:avLst/>
          </a:prstGeom>
          <a:solidFill>
            <a:srgbClr val="F97316"/>
          </a:solidFill>
          <a:ln w="12700">
            <a:solidFill>
              <a:srgbClr val="F97316"/>
            </a:solidFill>
            <a:prstDash val="solid"/>
          </a:ln>
        </p:spPr>
        <p:txBody>
          <a:bodyPr/>
          <a:lstStyle/>
          <a:p>
            <a:endParaRPr lang="en-US"/>
          </a:p>
        </p:txBody>
      </p:sp>
      <p:sp>
        <p:nvSpPr>
          <p:cNvPr id="18" name="Text 16"/>
          <p:cNvSpPr/>
          <p:nvPr/>
        </p:nvSpPr>
        <p:spPr>
          <a:xfrm>
            <a:off x="6446520" y="143560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9" name="Text 17"/>
          <p:cNvSpPr/>
          <p:nvPr/>
        </p:nvSpPr>
        <p:spPr>
          <a:xfrm>
            <a:off x="6858000" y="1353312"/>
            <a:ext cx="4251960" cy="228600"/>
          </a:xfrm>
          <a:prstGeom prst="rect">
            <a:avLst/>
          </a:prstGeom>
          <a:noFill/>
          <a:ln/>
        </p:spPr>
        <p:txBody>
          <a:bodyPr wrap="square" lIns="0" tIns="0" rIns="0" bIns="0" rtlCol="0" anchor="ctr"/>
          <a:lstStyle/>
          <a:p>
            <a:pPr marL="0" indent="0">
              <a:buNone/>
            </a:pPr>
            <a:r>
              <a:rPr lang="en-US" sz="2000" b="1" dirty="0">
                <a:solidFill>
                  <a:srgbClr val="F97316"/>
                </a:solidFill>
              </a:rPr>
              <a:t>Did it choose a reasonable path?</a:t>
            </a:r>
            <a:endParaRPr lang="en-US" sz="2000" dirty="0"/>
          </a:p>
        </p:txBody>
      </p:sp>
      <p:sp>
        <p:nvSpPr>
          <p:cNvPr id="20" name="Text 18"/>
          <p:cNvSpPr/>
          <p:nvPr/>
        </p:nvSpPr>
        <p:spPr>
          <a:xfrm>
            <a:off x="6858000" y="1700784"/>
            <a:ext cx="2926080" cy="228600"/>
          </a:xfrm>
          <a:prstGeom prst="rect">
            <a:avLst/>
          </a:prstGeom>
          <a:noFill/>
          <a:ln/>
        </p:spPr>
        <p:txBody>
          <a:bodyPr wrap="square" lIns="0" tIns="0" rIns="0" bIns="0" rtlCol="0" anchor="ctr"/>
          <a:lstStyle/>
          <a:p>
            <a:pPr marL="0" indent="0">
              <a:buNone/>
            </a:pPr>
            <a:r>
              <a:rPr lang="en-US" sz="1500" b="1" dirty="0">
                <a:solidFill>
                  <a:srgbClr val="071A44"/>
                </a:solidFill>
              </a:rPr>
              <a:t>Reasoning &amp; Orchestration</a:t>
            </a:r>
            <a:endParaRPr lang="en-US" sz="1500" dirty="0"/>
          </a:p>
        </p:txBody>
      </p:sp>
      <p:sp>
        <p:nvSpPr>
          <p:cNvPr id="21" name="Text 19"/>
          <p:cNvSpPr/>
          <p:nvPr/>
        </p:nvSpPr>
        <p:spPr>
          <a:xfrm>
            <a:off x="6556248" y="224028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Planning, routing, retries and recovery</a:t>
            </a:r>
            <a:endParaRPr lang="en-US" sz="1200" dirty="0"/>
          </a:p>
        </p:txBody>
      </p:sp>
      <p:sp>
        <p:nvSpPr>
          <p:cNvPr id="22" name="Text 20"/>
          <p:cNvSpPr/>
          <p:nvPr/>
        </p:nvSpPr>
        <p:spPr>
          <a:xfrm>
            <a:off x="6556248" y="265176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Evidence: traces, trajectories and step sequences</a:t>
            </a:r>
            <a:endParaRPr lang="en-US" sz="1200" dirty="0"/>
          </a:p>
        </p:txBody>
      </p:sp>
      <p:sp>
        <p:nvSpPr>
          <p:cNvPr id="23" name="Text 21"/>
          <p:cNvSpPr/>
          <p:nvPr/>
        </p:nvSpPr>
        <p:spPr>
          <a:xfrm>
            <a:off x="6556248" y="306324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Oracle: expected path, acceptable path or invariant</a:t>
            </a:r>
            <a:endParaRPr lang="en-US" sz="1200" dirty="0"/>
          </a:p>
        </p:txBody>
      </p:sp>
      <p:sp>
        <p:nvSpPr>
          <p:cNvPr id="24" name="Text 22"/>
          <p:cNvSpPr/>
          <p:nvPr/>
        </p:nvSpPr>
        <p:spPr>
          <a:xfrm>
            <a:off x="6556248" y="347472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Roles: QE, SDET, AI Evaluator, Test Architect</a:t>
            </a:r>
            <a:endParaRPr lang="en-US" sz="1200" dirty="0"/>
          </a:p>
        </p:txBody>
      </p:sp>
      <p:sp>
        <p:nvSpPr>
          <p:cNvPr id="25" name="Text 23"/>
          <p:cNvSpPr/>
          <p:nvPr/>
        </p:nvSpPr>
        <p:spPr>
          <a:xfrm>
            <a:off x="6556248" y="4069080"/>
            <a:ext cx="4480560" cy="384048"/>
          </a:xfrm>
          <a:prstGeom prst="rect">
            <a:avLst/>
          </a:prstGeom>
          <a:noFill/>
          <a:ln/>
        </p:spPr>
        <p:txBody>
          <a:bodyPr wrap="square" lIns="0" tIns="0" rIns="0" bIns="0" rtlCol="0" anchor="ctr"/>
          <a:lstStyle/>
          <a:p>
            <a:pPr marL="0" indent="0">
              <a:buNone/>
            </a:pPr>
            <a:r>
              <a:rPr lang="en-US" sz="1220" b="1" dirty="0">
                <a:solidFill>
                  <a:srgbClr val="F97316"/>
                </a:solidFill>
              </a:rPr>
              <a:t>Example fit: AgentEval-style traces, rubrics and workflow scoring</a:t>
            </a:r>
            <a:endParaRPr lang="en-US" sz="1220" dirty="0"/>
          </a:p>
        </p:txBody>
      </p:sp>
      <p:sp>
        <p:nvSpPr>
          <p:cNvPr id="26" name="Shape 24"/>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7" name="Text 25"/>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First ask permission. Then ask whether the agent took a reasonable path.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Question 3 and 4: action and context</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Tool interactions + memory/context quality</a:t>
            </a:r>
            <a:endParaRPr lang="en-US" sz="1250" dirty="0"/>
          </a:p>
        </p:txBody>
      </p:sp>
      <p:sp>
        <p:nvSpPr>
          <p:cNvPr id="6" name="Shape 4"/>
          <p:cNvSpPr/>
          <p:nvPr/>
        </p:nvSpPr>
        <p:spPr>
          <a:xfrm>
            <a:off x="685800" y="1170432"/>
            <a:ext cx="5303520" cy="4480560"/>
          </a:xfrm>
          <a:prstGeom prst="roundRect">
            <a:avLst>
              <a:gd name="adj" fmla="val 2449"/>
            </a:avLst>
          </a:prstGeom>
          <a:solidFill>
            <a:srgbClr val="ECFEFF"/>
          </a:solidFill>
          <a:ln w="12700">
            <a:solidFill>
              <a:srgbClr val="0F766E"/>
            </a:solidFill>
            <a:prstDash val="solid"/>
          </a:ln>
        </p:spPr>
        <p:txBody>
          <a:bodyPr/>
          <a:lstStyle/>
          <a:p>
            <a:endParaRPr lang="en-US"/>
          </a:p>
        </p:txBody>
      </p:sp>
      <p:sp>
        <p:nvSpPr>
          <p:cNvPr id="7" name="Shape 5"/>
          <p:cNvSpPr/>
          <p:nvPr/>
        </p:nvSpPr>
        <p:spPr>
          <a:xfrm>
            <a:off x="914400" y="1389888"/>
            <a:ext cx="310896" cy="310896"/>
          </a:xfrm>
          <a:prstGeom prst="ellipse">
            <a:avLst/>
          </a:prstGeom>
          <a:solidFill>
            <a:srgbClr val="0F766E"/>
          </a:solidFill>
          <a:ln w="12700">
            <a:solidFill>
              <a:srgbClr val="0F766E"/>
            </a:solidFill>
            <a:prstDash val="solid"/>
          </a:ln>
        </p:spPr>
        <p:txBody>
          <a:bodyPr/>
          <a:lstStyle/>
          <a:p>
            <a:endParaRPr lang="en-US"/>
          </a:p>
        </p:txBody>
      </p:sp>
      <p:sp>
        <p:nvSpPr>
          <p:cNvPr id="8" name="Text 6"/>
          <p:cNvSpPr/>
          <p:nvPr/>
        </p:nvSpPr>
        <p:spPr>
          <a:xfrm>
            <a:off x="914400" y="143560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9" name="Text 7"/>
          <p:cNvSpPr/>
          <p:nvPr/>
        </p:nvSpPr>
        <p:spPr>
          <a:xfrm>
            <a:off x="1325880" y="1353312"/>
            <a:ext cx="4114800" cy="411480"/>
          </a:xfrm>
          <a:prstGeom prst="rect">
            <a:avLst/>
          </a:prstGeom>
          <a:noFill/>
          <a:ln/>
        </p:spPr>
        <p:txBody>
          <a:bodyPr wrap="square" lIns="0" tIns="0" rIns="0" bIns="0" rtlCol="0" anchor="ctr"/>
          <a:lstStyle/>
          <a:p>
            <a:pPr marL="0" indent="0">
              <a:buNone/>
            </a:pPr>
            <a:r>
              <a:rPr lang="en-US" sz="1900" b="1" dirty="0">
                <a:solidFill>
                  <a:srgbClr val="0F766E"/>
                </a:solidFill>
              </a:rPr>
              <a:t>Did it act correctly on the outside world?</a:t>
            </a:r>
            <a:endParaRPr lang="en-US" sz="1900" dirty="0"/>
          </a:p>
        </p:txBody>
      </p:sp>
      <p:sp>
        <p:nvSpPr>
          <p:cNvPr id="10" name="Text 8"/>
          <p:cNvSpPr/>
          <p:nvPr/>
        </p:nvSpPr>
        <p:spPr>
          <a:xfrm>
            <a:off x="1325880" y="1828800"/>
            <a:ext cx="2926080" cy="228600"/>
          </a:xfrm>
          <a:prstGeom prst="rect">
            <a:avLst/>
          </a:prstGeom>
          <a:noFill/>
          <a:ln/>
        </p:spPr>
        <p:txBody>
          <a:bodyPr wrap="square" lIns="0" tIns="0" rIns="0" bIns="0" rtlCol="0" anchor="ctr"/>
          <a:lstStyle/>
          <a:p>
            <a:pPr marL="0" indent="0">
              <a:buNone/>
            </a:pPr>
            <a:r>
              <a:rPr lang="en-US" sz="1500" b="1" dirty="0">
                <a:solidFill>
                  <a:srgbClr val="071A44"/>
                </a:solidFill>
              </a:rPr>
              <a:t>Action Layer</a:t>
            </a:r>
            <a:endParaRPr lang="en-US" sz="1500" dirty="0"/>
          </a:p>
        </p:txBody>
      </p:sp>
      <p:sp>
        <p:nvSpPr>
          <p:cNvPr id="11" name="Text 9"/>
          <p:cNvSpPr/>
          <p:nvPr/>
        </p:nvSpPr>
        <p:spPr>
          <a:xfrm>
            <a:off x="1024128" y="233172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Tools, APIs, MCP-style integrations, side effects</a:t>
            </a:r>
            <a:endParaRPr lang="en-US" sz="1200" dirty="0"/>
          </a:p>
        </p:txBody>
      </p:sp>
      <p:sp>
        <p:nvSpPr>
          <p:cNvPr id="12" name="Text 10"/>
          <p:cNvSpPr/>
          <p:nvPr/>
        </p:nvSpPr>
        <p:spPr>
          <a:xfrm>
            <a:off x="1024128" y="274320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Evidence: tool calls, arguments, contracts, side effects</a:t>
            </a:r>
            <a:endParaRPr lang="en-US" sz="1200" dirty="0"/>
          </a:p>
        </p:txBody>
      </p:sp>
      <p:sp>
        <p:nvSpPr>
          <p:cNvPr id="13" name="Text 11"/>
          <p:cNvSpPr/>
          <p:nvPr/>
        </p:nvSpPr>
        <p:spPr>
          <a:xfrm>
            <a:off x="1024128" y="315468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Oracle: contract checks, sequence/set matching</a:t>
            </a:r>
            <a:endParaRPr lang="en-US" sz="1200" dirty="0"/>
          </a:p>
        </p:txBody>
      </p:sp>
      <p:sp>
        <p:nvSpPr>
          <p:cNvPr id="14" name="Text 12"/>
          <p:cNvSpPr/>
          <p:nvPr/>
        </p:nvSpPr>
        <p:spPr>
          <a:xfrm>
            <a:off x="1024128" y="356616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Roles: API QA, Integration QA, SDET, Platform QA</a:t>
            </a:r>
            <a:endParaRPr lang="en-US" sz="1200" dirty="0"/>
          </a:p>
        </p:txBody>
      </p:sp>
      <p:sp>
        <p:nvSpPr>
          <p:cNvPr id="15" name="Text 13"/>
          <p:cNvSpPr/>
          <p:nvPr/>
        </p:nvSpPr>
        <p:spPr>
          <a:xfrm>
            <a:off x="1024128" y="4160520"/>
            <a:ext cx="4480560" cy="256032"/>
          </a:xfrm>
          <a:prstGeom prst="rect">
            <a:avLst/>
          </a:prstGeom>
          <a:noFill/>
          <a:ln/>
        </p:spPr>
        <p:txBody>
          <a:bodyPr wrap="square" lIns="0" tIns="0" rIns="0" bIns="0" rtlCol="0" anchor="ctr"/>
          <a:lstStyle/>
          <a:p>
            <a:pPr marL="0" indent="0">
              <a:buNone/>
            </a:pPr>
            <a:r>
              <a:rPr lang="en-US" sz="1250" b="1" dirty="0">
                <a:solidFill>
                  <a:srgbClr val="0F766E"/>
                </a:solidFill>
              </a:rPr>
              <a:t>Bridge: classic integration testing + agent evaluation</a:t>
            </a:r>
            <a:endParaRPr lang="en-US" sz="1250" dirty="0"/>
          </a:p>
        </p:txBody>
      </p:sp>
      <p:sp>
        <p:nvSpPr>
          <p:cNvPr id="16" name="Shape 14"/>
          <p:cNvSpPr/>
          <p:nvPr/>
        </p:nvSpPr>
        <p:spPr>
          <a:xfrm>
            <a:off x="6217920" y="1170432"/>
            <a:ext cx="5303520" cy="4480560"/>
          </a:xfrm>
          <a:prstGeom prst="roundRect">
            <a:avLst>
              <a:gd name="adj" fmla="val 2449"/>
            </a:avLst>
          </a:prstGeom>
          <a:solidFill>
            <a:srgbClr val="ECFDF3"/>
          </a:solidFill>
          <a:ln w="12700">
            <a:solidFill>
              <a:srgbClr val="078A4A"/>
            </a:solidFill>
            <a:prstDash val="solid"/>
          </a:ln>
        </p:spPr>
        <p:txBody>
          <a:bodyPr/>
          <a:lstStyle/>
          <a:p>
            <a:endParaRPr lang="en-US"/>
          </a:p>
        </p:txBody>
      </p:sp>
      <p:sp>
        <p:nvSpPr>
          <p:cNvPr id="17" name="Shape 15"/>
          <p:cNvSpPr/>
          <p:nvPr/>
        </p:nvSpPr>
        <p:spPr>
          <a:xfrm>
            <a:off x="6446520" y="1389888"/>
            <a:ext cx="310896" cy="310896"/>
          </a:xfrm>
          <a:prstGeom prst="ellipse">
            <a:avLst/>
          </a:prstGeom>
          <a:solidFill>
            <a:srgbClr val="078A4A"/>
          </a:solidFill>
          <a:ln w="12700">
            <a:solidFill>
              <a:srgbClr val="078A4A"/>
            </a:solidFill>
            <a:prstDash val="solid"/>
          </a:ln>
        </p:spPr>
        <p:txBody>
          <a:bodyPr/>
          <a:lstStyle/>
          <a:p>
            <a:endParaRPr lang="en-US"/>
          </a:p>
        </p:txBody>
      </p:sp>
      <p:sp>
        <p:nvSpPr>
          <p:cNvPr id="18" name="Text 16"/>
          <p:cNvSpPr/>
          <p:nvPr/>
        </p:nvSpPr>
        <p:spPr>
          <a:xfrm>
            <a:off x="6446520" y="143560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9" name="Text 17"/>
          <p:cNvSpPr/>
          <p:nvPr/>
        </p:nvSpPr>
        <p:spPr>
          <a:xfrm>
            <a:off x="6858000" y="1353312"/>
            <a:ext cx="4251960" cy="228600"/>
          </a:xfrm>
          <a:prstGeom prst="rect">
            <a:avLst/>
          </a:prstGeom>
          <a:noFill/>
          <a:ln/>
        </p:spPr>
        <p:txBody>
          <a:bodyPr wrap="square" lIns="0" tIns="0" rIns="0" bIns="0" rtlCol="0" anchor="ctr"/>
          <a:lstStyle/>
          <a:p>
            <a:pPr marL="0" indent="0">
              <a:buNone/>
            </a:pPr>
            <a:r>
              <a:rPr lang="en-US" sz="2000" b="1" dirty="0">
                <a:solidFill>
                  <a:srgbClr val="078A4A"/>
                </a:solidFill>
              </a:rPr>
              <a:t>Did it use the right context?</a:t>
            </a:r>
            <a:endParaRPr lang="en-US" sz="2000" dirty="0"/>
          </a:p>
        </p:txBody>
      </p:sp>
      <p:sp>
        <p:nvSpPr>
          <p:cNvPr id="20" name="Text 18"/>
          <p:cNvSpPr/>
          <p:nvPr/>
        </p:nvSpPr>
        <p:spPr>
          <a:xfrm>
            <a:off x="6858000" y="1700784"/>
            <a:ext cx="2926080" cy="228600"/>
          </a:xfrm>
          <a:prstGeom prst="rect">
            <a:avLst/>
          </a:prstGeom>
          <a:noFill/>
          <a:ln/>
        </p:spPr>
        <p:txBody>
          <a:bodyPr wrap="square" lIns="0" tIns="0" rIns="0" bIns="0" rtlCol="0" anchor="ctr"/>
          <a:lstStyle/>
          <a:p>
            <a:pPr marL="0" indent="0">
              <a:buNone/>
            </a:pPr>
            <a:r>
              <a:rPr lang="en-US" sz="1500" b="1" dirty="0">
                <a:solidFill>
                  <a:srgbClr val="071A44"/>
                </a:solidFill>
              </a:rPr>
              <a:t>Memory &amp; Context</a:t>
            </a:r>
            <a:endParaRPr lang="en-US" sz="1500" dirty="0"/>
          </a:p>
        </p:txBody>
      </p:sp>
      <p:sp>
        <p:nvSpPr>
          <p:cNvPr id="21" name="Text 19"/>
          <p:cNvSpPr/>
          <p:nvPr/>
        </p:nvSpPr>
        <p:spPr>
          <a:xfrm>
            <a:off x="6556248" y="224028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Short-term, session, long-term and retrieval context</a:t>
            </a:r>
            <a:endParaRPr lang="en-US" sz="1200" dirty="0"/>
          </a:p>
        </p:txBody>
      </p:sp>
      <p:sp>
        <p:nvSpPr>
          <p:cNvPr id="22" name="Text 20"/>
          <p:cNvSpPr/>
          <p:nvPr/>
        </p:nvSpPr>
        <p:spPr>
          <a:xfrm>
            <a:off x="6556248" y="265176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Risks: stale context, wrong recall, cross-user leakage</a:t>
            </a:r>
            <a:endParaRPr lang="en-US" sz="1200" dirty="0"/>
          </a:p>
        </p:txBody>
      </p:sp>
      <p:sp>
        <p:nvSpPr>
          <p:cNvPr id="23" name="Text 21"/>
          <p:cNvSpPr/>
          <p:nvPr/>
        </p:nvSpPr>
        <p:spPr>
          <a:xfrm>
            <a:off x="6556248" y="3063240"/>
            <a:ext cx="4480560" cy="256032"/>
          </a:xfrm>
          <a:prstGeom prst="rect">
            <a:avLst/>
          </a:prstGeom>
          <a:noFill/>
          <a:ln/>
        </p:spPr>
        <p:txBody>
          <a:bodyPr wrap="square" lIns="0" tIns="0" rIns="0" bIns="0" rtlCol="0" anchor="ctr"/>
          <a:lstStyle/>
          <a:p>
            <a:pPr marL="0" indent="0">
              <a:buNone/>
            </a:pPr>
            <a:r>
              <a:rPr lang="en-US" sz="1200" dirty="0">
                <a:solidFill>
                  <a:srgbClr val="0F172A"/>
                </a:solidFill>
              </a:rPr>
              <a:t>• Evidence: multi-turn conversations and session traces</a:t>
            </a:r>
            <a:endParaRPr lang="en-US" sz="1200" dirty="0"/>
          </a:p>
        </p:txBody>
      </p:sp>
      <p:sp>
        <p:nvSpPr>
          <p:cNvPr id="24" name="Text 22"/>
          <p:cNvSpPr/>
          <p:nvPr/>
        </p:nvSpPr>
        <p:spPr>
          <a:xfrm>
            <a:off x="6556248" y="3474720"/>
            <a:ext cx="4480560" cy="347472"/>
          </a:xfrm>
          <a:prstGeom prst="rect">
            <a:avLst/>
          </a:prstGeom>
          <a:noFill/>
          <a:ln/>
        </p:spPr>
        <p:txBody>
          <a:bodyPr wrap="square" lIns="0" tIns="0" rIns="0" bIns="0" rtlCol="0" anchor="ctr"/>
          <a:lstStyle/>
          <a:p>
            <a:pPr marL="0" indent="0">
              <a:buNone/>
            </a:pPr>
            <a:r>
              <a:rPr lang="en-US" sz="1120" dirty="0">
                <a:solidFill>
                  <a:srgbClr val="0F172A"/>
                </a:solidFill>
              </a:rPr>
              <a:t>• Roles: AI Evaluator, Conversation QA, Privacy, Data Governance</a:t>
            </a:r>
            <a:endParaRPr lang="en-US" sz="1120" dirty="0"/>
          </a:p>
        </p:txBody>
      </p:sp>
      <p:sp>
        <p:nvSpPr>
          <p:cNvPr id="25" name="Text 23"/>
          <p:cNvSpPr/>
          <p:nvPr/>
        </p:nvSpPr>
        <p:spPr>
          <a:xfrm>
            <a:off x="6556248" y="4160520"/>
            <a:ext cx="4480560" cy="256032"/>
          </a:xfrm>
          <a:prstGeom prst="rect">
            <a:avLst/>
          </a:prstGeom>
          <a:noFill/>
          <a:ln/>
        </p:spPr>
        <p:txBody>
          <a:bodyPr wrap="square" lIns="0" tIns="0" rIns="0" bIns="0" rtlCol="0" anchor="ctr"/>
          <a:lstStyle/>
          <a:p>
            <a:pPr marL="0" indent="0">
              <a:buNone/>
            </a:pPr>
            <a:r>
              <a:rPr lang="en-US" sz="1250" b="1" dirty="0">
                <a:solidFill>
                  <a:srgbClr val="078A4A"/>
                </a:solidFill>
              </a:rPr>
              <a:t>Frontier: possible to test, but still less standardized</a:t>
            </a:r>
            <a:endParaRPr lang="en-US" sz="1250" dirty="0"/>
          </a:p>
        </p:txBody>
      </p:sp>
      <p:sp>
        <p:nvSpPr>
          <p:cNvPr id="26" name="Shape 24"/>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7" name="Text 25"/>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Agents do not only answer: they act, recall, retrieve and update context.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8</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How do we know what really happened?</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Telemetry turns complex behavior into test evidence</a:t>
            </a:r>
            <a:endParaRPr lang="en-US" sz="1250" dirty="0"/>
          </a:p>
        </p:txBody>
      </p:sp>
      <p:sp>
        <p:nvSpPr>
          <p:cNvPr id="6" name="Shape 4"/>
          <p:cNvSpPr/>
          <p:nvPr/>
        </p:nvSpPr>
        <p:spPr>
          <a:xfrm>
            <a:off x="685800" y="1234440"/>
            <a:ext cx="10835640" cy="4434840"/>
          </a:xfrm>
          <a:prstGeom prst="roundRect">
            <a:avLst>
              <a:gd name="adj" fmla="val 2474"/>
            </a:avLst>
          </a:prstGeom>
          <a:solidFill>
            <a:srgbClr val="F5F3FF"/>
          </a:solidFill>
          <a:ln w="12700">
            <a:solidFill>
              <a:srgbClr val="6D28D9"/>
            </a:solidFill>
            <a:prstDash val="solid"/>
          </a:ln>
        </p:spPr>
        <p:txBody>
          <a:bodyPr/>
          <a:lstStyle/>
          <a:p>
            <a:endParaRPr lang="en-US"/>
          </a:p>
        </p:txBody>
      </p:sp>
      <p:sp>
        <p:nvSpPr>
          <p:cNvPr id="7" name="Shape 5"/>
          <p:cNvSpPr/>
          <p:nvPr/>
        </p:nvSpPr>
        <p:spPr>
          <a:xfrm>
            <a:off x="960120" y="1481328"/>
            <a:ext cx="310896" cy="310896"/>
          </a:xfrm>
          <a:prstGeom prst="ellipse">
            <a:avLst/>
          </a:prstGeom>
          <a:solidFill>
            <a:srgbClr val="6D28D9"/>
          </a:solidFill>
          <a:ln w="12700">
            <a:solidFill>
              <a:srgbClr val="6D28D9"/>
            </a:solidFill>
            <a:prstDash val="solid"/>
          </a:ln>
        </p:spPr>
        <p:txBody>
          <a:bodyPr/>
          <a:lstStyle/>
          <a:p>
            <a:endParaRPr lang="en-US"/>
          </a:p>
        </p:txBody>
      </p:sp>
      <p:sp>
        <p:nvSpPr>
          <p:cNvPr id="8" name="Text 6"/>
          <p:cNvSpPr/>
          <p:nvPr/>
        </p:nvSpPr>
        <p:spPr>
          <a:xfrm>
            <a:off x="960120" y="1527048"/>
            <a:ext cx="310896"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9" name="Text 7"/>
          <p:cNvSpPr/>
          <p:nvPr/>
        </p:nvSpPr>
        <p:spPr>
          <a:xfrm>
            <a:off x="1417320" y="1444752"/>
            <a:ext cx="7132320" cy="320040"/>
          </a:xfrm>
          <a:prstGeom prst="rect">
            <a:avLst/>
          </a:prstGeom>
          <a:noFill/>
          <a:ln/>
        </p:spPr>
        <p:txBody>
          <a:bodyPr wrap="square" lIns="0" tIns="0" rIns="0" bIns="0" rtlCol="0" anchor="ctr"/>
          <a:lstStyle/>
          <a:p>
            <a:pPr marL="0" indent="0">
              <a:buNone/>
            </a:pPr>
            <a:r>
              <a:rPr lang="en-US" sz="2400" b="1" dirty="0">
                <a:solidFill>
                  <a:srgbClr val="6D28D9"/>
                </a:solidFill>
              </a:rPr>
              <a:t>Telemetry, Observability &amp; Continuous Evaluation</a:t>
            </a:r>
            <a:endParaRPr lang="en-US" sz="2400" dirty="0"/>
          </a:p>
        </p:txBody>
      </p:sp>
      <p:sp>
        <p:nvSpPr>
          <p:cNvPr id="10" name="Text 8"/>
          <p:cNvSpPr/>
          <p:nvPr/>
        </p:nvSpPr>
        <p:spPr>
          <a:xfrm>
            <a:off x="1417320" y="1847088"/>
            <a:ext cx="5029200" cy="228600"/>
          </a:xfrm>
          <a:prstGeom prst="rect">
            <a:avLst/>
          </a:prstGeom>
          <a:noFill/>
          <a:ln/>
        </p:spPr>
        <p:txBody>
          <a:bodyPr wrap="square" lIns="0" tIns="0" rIns="0" bIns="0" rtlCol="0" anchor="ctr"/>
          <a:lstStyle/>
          <a:p>
            <a:pPr marL="0" indent="0">
              <a:buNone/>
            </a:pPr>
            <a:r>
              <a:rPr lang="en-US" sz="1400" i="1" dirty="0">
                <a:solidFill>
                  <a:srgbClr val="64748B"/>
                </a:solidFill>
              </a:rPr>
              <a:t>The evidence layer for agentic systems</a:t>
            </a:r>
            <a:endParaRPr lang="en-US" sz="1400" dirty="0"/>
          </a:p>
        </p:txBody>
      </p:sp>
      <p:sp>
        <p:nvSpPr>
          <p:cNvPr id="11" name="Shape 9"/>
          <p:cNvSpPr/>
          <p:nvPr/>
        </p:nvSpPr>
        <p:spPr>
          <a:xfrm>
            <a:off x="1051560" y="2542032"/>
            <a:ext cx="2103120" cy="2029968"/>
          </a:xfrm>
          <a:prstGeom prst="roundRect">
            <a:avLst>
              <a:gd name="adj" fmla="val 5405"/>
            </a:avLst>
          </a:prstGeom>
          <a:solidFill>
            <a:srgbClr val="FFFFFF"/>
          </a:solidFill>
          <a:ln w="12700">
            <a:solidFill>
              <a:srgbClr val="DDD6FE"/>
            </a:solidFill>
            <a:prstDash val="solid"/>
          </a:ln>
        </p:spPr>
        <p:txBody>
          <a:bodyPr/>
          <a:lstStyle/>
          <a:p>
            <a:endParaRPr lang="en-US"/>
          </a:p>
        </p:txBody>
      </p:sp>
      <p:sp>
        <p:nvSpPr>
          <p:cNvPr id="12" name="Text 10"/>
          <p:cNvSpPr/>
          <p:nvPr/>
        </p:nvSpPr>
        <p:spPr>
          <a:xfrm>
            <a:off x="1234440" y="2761488"/>
            <a:ext cx="1737360" cy="228600"/>
          </a:xfrm>
          <a:prstGeom prst="rect">
            <a:avLst/>
          </a:prstGeom>
          <a:noFill/>
          <a:ln/>
        </p:spPr>
        <p:txBody>
          <a:bodyPr wrap="square" lIns="0" tIns="0" rIns="0" bIns="0" rtlCol="0" anchor="ctr"/>
          <a:lstStyle/>
          <a:p>
            <a:pPr marL="0" indent="0" algn="ctr">
              <a:buNone/>
            </a:pPr>
            <a:r>
              <a:rPr lang="en-US" sz="1600" b="1" dirty="0">
                <a:solidFill>
                  <a:srgbClr val="071A44"/>
                </a:solidFill>
              </a:rPr>
              <a:t>Signals</a:t>
            </a:r>
            <a:endParaRPr lang="en-US" sz="1600" dirty="0"/>
          </a:p>
        </p:txBody>
      </p:sp>
      <p:sp>
        <p:nvSpPr>
          <p:cNvPr id="13" name="Text 11"/>
          <p:cNvSpPr/>
          <p:nvPr/>
        </p:nvSpPr>
        <p:spPr>
          <a:xfrm>
            <a:off x="1371600" y="3172968"/>
            <a:ext cx="1463040" cy="777240"/>
          </a:xfrm>
          <a:prstGeom prst="rect">
            <a:avLst/>
          </a:prstGeom>
          <a:noFill/>
          <a:ln/>
        </p:spPr>
        <p:txBody>
          <a:bodyPr wrap="square" lIns="0" tIns="0" rIns="0" bIns="0" rtlCol="0" anchor="ctr"/>
          <a:lstStyle/>
          <a:p>
            <a:pPr marL="0" indent="0" algn="ctr">
              <a:buNone/>
            </a:pPr>
            <a:r>
              <a:rPr lang="en-US" sz="1260" dirty="0">
                <a:solidFill>
                  <a:srgbClr val="0F172A"/>
                </a:solidFill>
              </a:rPr>
              <a:t>Traces</a:t>
            </a:r>
            <a:endParaRPr lang="en-US" sz="1260" dirty="0"/>
          </a:p>
          <a:p>
            <a:pPr marL="0" indent="0" algn="ctr">
              <a:buNone/>
            </a:pPr>
            <a:r>
              <a:rPr lang="en-US" sz="1260" dirty="0">
                <a:solidFill>
                  <a:srgbClr val="0F172A"/>
                </a:solidFill>
              </a:rPr>
              <a:t>Spans</a:t>
            </a:r>
            <a:endParaRPr lang="en-US" sz="1260" dirty="0"/>
          </a:p>
          <a:p>
            <a:pPr marL="0" indent="0" algn="ctr">
              <a:buNone/>
            </a:pPr>
            <a:r>
              <a:rPr lang="en-US" sz="1260" dirty="0">
                <a:solidFill>
                  <a:srgbClr val="0F172A"/>
                </a:solidFill>
              </a:rPr>
              <a:t>Logs</a:t>
            </a:r>
            <a:endParaRPr lang="en-US" sz="1260" dirty="0"/>
          </a:p>
          <a:p>
            <a:pPr marL="0" indent="0" algn="ctr">
              <a:buNone/>
            </a:pPr>
            <a:r>
              <a:rPr lang="en-US" sz="1260" dirty="0">
                <a:solidFill>
                  <a:srgbClr val="0F172A"/>
                </a:solidFill>
              </a:rPr>
              <a:t>Metrics</a:t>
            </a:r>
            <a:endParaRPr lang="en-US" sz="1260" dirty="0"/>
          </a:p>
        </p:txBody>
      </p:sp>
      <p:sp>
        <p:nvSpPr>
          <p:cNvPr id="14" name="Shape 12"/>
          <p:cNvSpPr/>
          <p:nvPr/>
        </p:nvSpPr>
        <p:spPr>
          <a:xfrm>
            <a:off x="3657600" y="2542032"/>
            <a:ext cx="2103120" cy="2029968"/>
          </a:xfrm>
          <a:prstGeom prst="roundRect">
            <a:avLst>
              <a:gd name="adj" fmla="val 5405"/>
            </a:avLst>
          </a:prstGeom>
          <a:solidFill>
            <a:srgbClr val="FFFFFF"/>
          </a:solidFill>
          <a:ln w="12700">
            <a:solidFill>
              <a:srgbClr val="DDD6FE"/>
            </a:solidFill>
            <a:prstDash val="solid"/>
          </a:ln>
        </p:spPr>
        <p:txBody>
          <a:bodyPr/>
          <a:lstStyle/>
          <a:p>
            <a:endParaRPr lang="en-US"/>
          </a:p>
        </p:txBody>
      </p:sp>
      <p:sp>
        <p:nvSpPr>
          <p:cNvPr id="15" name="Text 13"/>
          <p:cNvSpPr/>
          <p:nvPr/>
        </p:nvSpPr>
        <p:spPr>
          <a:xfrm>
            <a:off x="3840480" y="2761488"/>
            <a:ext cx="1737360" cy="228600"/>
          </a:xfrm>
          <a:prstGeom prst="rect">
            <a:avLst/>
          </a:prstGeom>
          <a:noFill/>
          <a:ln/>
        </p:spPr>
        <p:txBody>
          <a:bodyPr wrap="square" lIns="0" tIns="0" rIns="0" bIns="0" rtlCol="0" anchor="ctr"/>
          <a:lstStyle/>
          <a:p>
            <a:pPr marL="0" indent="0" algn="ctr">
              <a:buNone/>
            </a:pPr>
            <a:r>
              <a:rPr lang="en-US" sz="1600" b="1" dirty="0">
                <a:solidFill>
                  <a:srgbClr val="071A44"/>
                </a:solidFill>
              </a:rPr>
              <a:t>Performance</a:t>
            </a:r>
            <a:endParaRPr lang="en-US" sz="1600" dirty="0"/>
          </a:p>
        </p:txBody>
      </p:sp>
      <p:sp>
        <p:nvSpPr>
          <p:cNvPr id="16" name="Text 14"/>
          <p:cNvSpPr/>
          <p:nvPr/>
        </p:nvSpPr>
        <p:spPr>
          <a:xfrm>
            <a:off x="3977640" y="3172968"/>
            <a:ext cx="1463040" cy="777240"/>
          </a:xfrm>
          <a:prstGeom prst="rect">
            <a:avLst/>
          </a:prstGeom>
          <a:noFill/>
          <a:ln/>
        </p:spPr>
        <p:txBody>
          <a:bodyPr wrap="square" lIns="0" tIns="0" rIns="0" bIns="0" rtlCol="0" anchor="ctr"/>
          <a:lstStyle/>
          <a:p>
            <a:pPr marL="0" indent="0" algn="ctr">
              <a:buNone/>
            </a:pPr>
            <a:r>
              <a:rPr lang="en-US" sz="1260" dirty="0">
                <a:solidFill>
                  <a:srgbClr val="0F172A"/>
                </a:solidFill>
              </a:rPr>
              <a:t>Latency</a:t>
            </a:r>
            <a:endParaRPr lang="en-US" sz="1260" dirty="0"/>
          </a:p>
          <a:p>
            <a:pPr marL="0" indent="0" algn="ctr">
              <a:buNone/>
            </a:pPr>
            <a:r>
              <a:rPr lang="en-US" sz="1260" dirty="0">
                <a:solidFill>
                  <a:srgbClr val="0F172A"/>
                </a:solidFill>
              </a:rPr>
              <a:t>Cost</a:t>
            </a:r>
            <a:endParaRPr lang="en-US" sz="1260" dirty="0"/>
          </a:p>
          <a:p>
            <a:pPr marL="0" indent="0" algn="ctr">
              <a:buNone/>
            </a:pPr>
            <a:r>
              <a:rPr lang="en-US" sz="1260" dirty="0">
                <a:solidFill>
                  <a:srgbClr val="0F172A"/>
                </a:solidFill>
              </a:rPr>
              <a:t>Throughput</a:t>
            </a:r>
            <a:endParaRPr lang="en-US" sz="1260" dirty="0"/>
          </a:p>
          <a:p>
            <a:pPr marL="0" indent="0" algn="ctr">
              <a:buNone/>
            </a:pPr>
            <a:r>
              <a:rPr lang="en-US" sz="1260" dirty="0">
                <a:solidFill>
                  <a:srgbClr val="0F172A"/>
                </a:solidFill>
              </a:rPr>
              <a:t>Retries</a:t>
            </a:r>
            <a:endParaRPr lang="en-US" sz="1260" dirty="0"/>
          </a:p>
        </p:txBody>
      </p:sp>
      <p:sp>
        <p:nvSpPr>
          <p:cNvPr id="17" name="Shape 15"/>
          <p:cNvSpPr/>
          <p:nvPr/>
        </p:nvSpPr>
        <p:spPr>
          <a:xfrm>
            <a:off x="6263640" y="2542032"/>
            <a:ext cx="2103120" cy="2029968"/>
          </a:xfrm>
          <a:prstGeom prst="roundRect">
            <a:avLst>
              <a:gd name="adj" fmla="val 5405"/>
            </a:avLst>
          </a:prstGeom>
          <a:solidFill>
            <a:srgbClr val="FFFFFF"/>
          </a:solidFill>
          <a:ln w="12700">
            <a:solidFill>
              <a:srgbClr val="DDD6FE"/>
            </a:solidFill>
            <a:prstDash val="solid"/>
          </a:ln>
        </p:spPr>
        <p:txBody>
          <a:bodyPr/>
          <a:lstStyle/>
          <a:p>
            <a:endParaRPr lang="en-US"/>
          </a:p>
        </p:txBody>
      </p:sp>
      <p:sp>
        <p:nvSpPr>
          <p:cNvPr id="18" name="Text 16"/>
          <p:cNvSpPr/>
          <p:nvPr/>
        </p:nvSpPr>
        <p:spPr>
          <a:xfrm>
            <a:off x="6446520" y="2761488"/>
            <a:ext cx="1737360" cy="228600"/>
          </a:xfrm>
          <a:prstGeom prst="rect">
            <a:avLst/>
          </a:prstGeom>
          <a:noFill/>
          <a:ln/>
        </p:spPr>
        <p:txBody>
          <a:bodyPr wrap="square" lIns="0" tIns="0" rIns="0" bIns="0" rtlCol="0" anchor="ctr"/>
          <a:lstStyle/>
          <a:p>
            <a:pPr marL="0" indent="0" algn="ctr">
              <a:buNone/>
            </a:pPr>
            <a:r>
              <a:rPr lang="en-US" sz="1600" b="1" dirty="0">
                <a:solidFill>
                  <a:srgbClr val="071A44"/>
                </a:solidFill>
              </a:rPr>
              <a:t>Behavior</a:t>
            </a:r>
            <a:endParaRPr lang="en-US" sz="1600" dirty="0"/>
          </a:p>
        </p:txBody>
      </p:sp>
      <p:sp>
        <p:nvSpPr>
          <p:cNvPr id="19" name="Text 17"/>
          <p:cNvSpPr/>
          <p:nvPr/>
        </p:nvSpPr>
        <p:spPr>
          <a:xfrm>
            <a:off x="6583680" y="3172968"/>
            <a:ext cx="1463040" cy="777240"/>
          </a:xfrm>
          <a:prstGeom prst="rect">
            <a:avLst/>
          </a:prstGeom>
          <a:noFill/>
          <a:ln/>
        </p:spPr>
        <p:txBody>
          <a:bodyPr wrap="square" lIns="0" tIns="0" rIns="0" bIns="0" rtlCol="0" anchor="ctr"/>
          <a:lstStyle/>
          <a:p>
            <a:pPr marL="0" indent="0" algn="ctr">
              <a:buNone/>
            </a:pPr>
            <a:r>
              <a:rPr lang="en-US" sz="1260" dirty="0">
                <a:solidFill>
                  <a:srgbClr val="0F172A"/>
                </a:solidFill>
              </a:rPr>
              <a:t>Sessions</a:t>
            </a:r>
            <a:endParaRPr lang="en-US" sz="1260" dirty="0"/>
          </a:p>
          <a:p>
            <a:pPr marL="0" indent="0" algn="ctr">
              <a:buNone/>
            </a:pPr>
            <a:r>
              <a:rPr lang="en-US" sz="1260" dirty="0">
                <a:solidFill>
                  <a:srgbClr val="0F172A"/>
                </a:solidFill>
              </a:rPr>
              <a:t>Journeys</a:t>
            </a:r>
            <a:endParaRPr lang="en-US" sz="1260" dirty="0"/>
          </a:p>
          <a:p>
            <a:pPr marL="0" indent="0" algn="ctr">
              <a:buNone/>
            </a:pPr>
            <a:r>
              <a:rPr lang="en-US" sz="1260" dirty="0">
                <a:solidFill>
                  <a:srgbClr val="0F172A"/>
                </a:solidFill>
              </a:rPr>
              <a:t>Loops</a:t>
            </a:r>
            <a:endParaRPr lang="en-US" sz="1260" dirty="0"/>
          </a:p>
          <a:p>
            <a:pPr marL="0" indent="0" algn="ctr">
              <a:buNone/>
            </a:pPr>
            <a:r>
              <a:rPr lang="en-US" sz="1260" dirty="0">
                <a:solidFill>
                  <a:srgbClr val="0F172A"/>
                </a:solidFill>
              </a:rPr>
              <a:t>Drift</a:t>
            </a:r>
            <a:endParaRPr lang="en-US" sz="1260" dirty="0"/>
          </a:p>
        </p:txBody>
      </p:sp>
      <p:sp>
        <p:nvSpPr>
          <p:cNvPr id="20" name="Shape 18"/>
          <p:cNvSpPr/>
          <p:nvPr/>
        </p:nvSpPr>
        <p:spPr>
          <a:xfrm>
            <a:off x="8869680" y="2542032"/>
            <a:ext cx="2103120" cy="2029968"/>
          </a:xfrm>
          <a:prstGeom prst="roundRect">
            <a:avLst>
              <a:gd name="adj" fmla="val 5405"/>
            </a:avLst>
          </a:prstGeom>
          <a:solidFill>
            <a:srgbClr val="FFFFFF"/>
          </a:solidFill>
          <a:ln w="12700">
            <a:solidFill>
              <a:srgbClr val="DDD6FE"/>
            </a:solidFill>
            <a:prstDash val="solid"/>
          </a:ln>
        </p:spPr>
        <p:txBody>
          <a:bodyPr/>
          <a:lstStyle/>
          <a:p>
            <a:endParaRPr lang="en-US"/>
          </a:p>
        </p:txBody>
      </p:sp>
      <p:sp>
        <p:nvSpPr>
          <p:cNvPr id="21" name="Text 19"/>
          <p:cNvSpPr/>
          <p:nvPr/>
        </p:nvSpPr>
        <p:spPr>
          <a:xfrm>
            <a:off x="9052560" y="2761488"/>
            <a:ext cx="1737360" cy="228600"/>
          </a:xfrm>
          <a:prstGeom prst="rect">
            <a:avLst/>
          </a:prstGeom>
          <a:noFill/>
          <a:ln/>
        </p:spPr>
        <p:txBody>
          <a:bodyPr wrap="square" lIns="0" tIns="0" rIns="0" bIns="0" rtlCol="0" anchor="ctr"/>
          <a:lstStyle/>
          <a:p>
            <a:pPr marL="0" indent="0" algn="ctr">
              <a:buNone/>
            </a:pPr>
            <a:r>
              <a:rPr lang="en-US" sz="1600" b="1" dirty="0">
                <a:solidFill>
                  <a:srgbClr val="071A44"/>
                </a:solidFill>
              </a:rPr>
              <a:t>Quality gates</a:t>
            </a:r>
            <a:endParaRPr lang="en-US" sz="1600" dirty="0"/>
          </a:p>
        </p:txBody>
      </p:sp>
      <p:sp>
        <p:nvSpPr>
          <p:cNvPr id="22" name="Text 20"/>
          <p:cNvSpPr/>
          <p:nvPr/>
        </p:nvSpPr>
        <p:spPr>
          <a:xfrm>
            <a:off x="9189720" y="3172968"/>
            <a:ext cx="1463040" cy="777240"/>
          </a:xfrm>
          <a:prstGeom prst="rect">
            <a:avLst/>
          </a:prstGeom>
          <a:noFill/>
          <a:ln/>
        </p:spPr>
        <p:txBody>
          <a:bodyPr wrap="square" lIns="0" tIns="0" rIns="0" bIns="0" rtlCol="0" anchor="ctr"/>
          <a:lstStyle/>
          <a:p>
            <a:pPr marL="0" indent="0" algn="ctr">
              <a:buNone/>
            </a:pPr>
            <a:r>
              <a:rPr lang="en-US" sz="1260" dirty="0">
                <a:solidFill>
                  <a:srgbClr val="0F172A"/>
                </a:solidFill>
              </a:rPr>
              <a:t>Conformance</a:t>
            </a:r>
            <a:endParaRPr lang="en-US" sz="1260" dirty="0"/>
          </a:p>
          <a:p>
            <a:pPr marL="0" indent="0" algn="ctr">
              <a:buNone/>
            </a:pPr>
            <a:r>
              <a:rPr lang="en-US" sz="1260" dirty="0">
                <a:solidFill>
                  <a:srgbClr val="0F172A"/>
                </a:solidFill>
              </a:rPr>
              <a:t>Thresholds</a:t>
            </a:r>
            <a:endParaRPr lang="en-US" sz="1260" dirty="0"/>
          </a:p>
          <a:p>
            <a:pPr marL="0" indent="0" algn="ctr">
              <a:buNone/>
            </a:pPr>
            <a:r>
              <a:rPr lang="en-US" sz="1260" dirty="0">
                <a:solidFill>
                  <a:srgbClr val="0F172A"/>
                </a:solidFill>
              </a:rPr>
              <a:t>Regression</a:t>
            </a:r>
            <a:endParaRPr lang="en-US" sz="1260" dirty="0"/>
          </a:p>
          <a:p>
            <a:pPr marL="0" indent="0" algn="ctr">
              <a:buNone/>
            </a:pPr>
            <a:r>
              <a:rPr lang="en-US" sz="1260" dirty="0">
                <a:solidFill>
                  <a:srgbClr val="0F172A"/>
                </a:solidFill>
              </a:rPr>
              <a:t>Release risk</a:t>
            </a:r>
            <a:endParaRPr lang="en-US" sz="1260" dirty="0"/>
          </a:p>
        </p:txBody>
      </p:sp>
      <p:sp>
        <p:nvSpPr>
          <p:cNvPr id="23" name="Shape 21"/>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4" name="Text 22"/>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Observability is not just debugging. In agentic AI, it becomes part of QA.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9</a:t>
            </a:r>
            <a:endParaRPr lang="en-US" sz="1300" dirty="0"/>
          </a:p>
        </p:txBody>
      </p:sp>
      <p:sp>
        <p:nvSpPr>
          <p:cNvPr id="4" name="Text 2"/>
          <p:cNvSpPr/>
          <p:nvPr/>
        </p:nvSpPr>
        <p:spPr>
          <a:xfrm>
            <a:off x="822960" y="256032"/>
            <a:ext cx="8641080" cy="402336"/>
          </a:xfrm>
          <a:prstGeom prst="rect">
            <a:avLst/>
          </a:prstGeom>
          <a:noFill/>
          <a:ln/>
        </p:spPr>
        <p:txBody>
          <a:bodyPr wrap="square" lIns="0" tIns="0" rIns="0" bIns="0" rtlCol="0" anchor="ctr"/>
          <a:lstStyle/>
          <a:p>
            <a:pPr marL="0" indent="0">
              <a:buNone/>
            </a:pPr>
            <a:r>
              <a:rPr lang="en-US" sz="2800" b="1" dirty="0">
                <a:solidFill>
                  <a:srgbClr val="071A44"/>
                </a:solidFill>
                <a:latin typeface="Aptos Display" pitchFamily="34" charset="0"/>
                <a:ea typeface="Aptos Display" pitchFamily="34" charset="-122"/>
                <a:cs typeface="Aptos Display" pitchFamily="34" charset="-120"/>
              </a:rPr>
              <a:t>Multi-agent and real-world complexity</a:t>
            </a:r>
            <a:endParaRPr lang="en-US" sz="2800" dirty="0"/>
          </a:p>
        </p:txBody>
      </p:sp>
      <p:sp>
        <p:nvSpPr>
          <p:cNvPr id="5" name="Text 3"/>
          <p:cNvSpPr/>
          <p:nvPr/>
        </p:nvSpPr>
        <p:spPr>
          <a:xfrm>
            <a:off x="841248" y="713232"/>
            <a:ext cx="10195560" cy="274320"/>
          </a:xfrm>
          <a:prstGeom prst="rect">
            <a:avLst/>
          </a:prstGeom>
          <a:noFill/>
          <a:ln/>
        </p:spPr>
        <p:txBody>
          <a:bodyPr wrap="square" lIns="0" tIns="0" rIns="0" bIns="0" rtlCol="0" anchor="ctr"/>
          <a:lstStyle/>
          <a:p>
            <a:pPr marL="0" indent="0">
              <a:buNone/>
            </a:pPr>
            <a:r>
              <a:rPr lang="en-US" sz="1250" i="1" dirty="0">
                <a:solidFill>
                  <a:srgbClr val="64748B"/>
                </a:solidFill>
              </a:rPr>
              <a:t>The same QA framework still applies — but complexity increases</a:t>
            </a:r>
            <a:endParaRPr lang="en-US" sz="1250" dirty="0"/>
          </a:p>
        </p:txBody>
      </p:sp>
      <p:sp>
        <p:nvSpPr>
          <p:cNvPr id="6" name="Shape 4"/>
          <p:cNvSpPr/>
          <p:nvPr/>
        </p:nvSpPr>
        <p:spPr>
          <a:xfrm>
            <a:off x="4800600" y="2011680"/>
            <a:ext cx="2514600" cy="1920240"/>
          </a:xfrm>
          <a:prstGeom prst="roundRect">
            <a:avLst>
              <a:gd name="adj" fmla="val 5714"/>
            </a:avLst>
          </a:prstGeom>
          <a:solidFill>
            <a:srgbClr val="FFFFFF"/>
          </a:solidFill>
          <a:ln w="12700">
            <a:solidFill>
              <a:srgbClr val="071A44"/>
            </a:solidFill>
            <a:prstDash val="solid"/>
          </a:ln>
        </p:spPr>
        <p:txBody>
          <a:bodyPr/>
          <a:lstStyle/>
          <a:p>
            <a:endParaRPr lang="en-US"/>
          </a:p>
        </p:txBody>
      </p:sp>
      <p:sp>
        <p:nvSpPr>
          <p:cNvPr id="7" name="Shape 5"/>
          <p:cNvSpPr/>
          <p:nvPr/>
        </p:nvSpPr>
        <p:spPr>
          <a:xfrm>
            <a:off x="4983480" y="2148840"/>
            <a:ext cx="2148840" cy="1645920"/>
          </a:xfrm>
          <a:prstGeom prst="ellipse">
            <a:avLst/>
          </a:prstGeom>
          <a:solidFill>
            <a:srgbClr val="FFFFFF"/>
          </a:solidFill>
          <a:ln w="12700">
            <a:solidFill>
              <a:srgbClr val="071A44"/>
            </a:solidFill>
            <a:prstDash val="solid"/>
          </a:ln>
        </p:spPr>
        <p:txBody>
          <a:bodyPr/>
          <a:lstStyle/>
          <a:p>
            <a:endParaRPr lang="en-US"/>
          </a:p>
        </p:txBody>
      </p:sp>
      <p:sp>
        <p:nvSpPr>
          <p:cNvPr id="8" name="Text 6"/>
          <p:cNvSpPr/>
          <p:nvPr/>
        </p:nvSpPr>
        <p:spPr>
          <a:xfrm>
            <a:off x="5276088" y="2514600"/>
            <a:ext cx="1554480" cy="685800"/>
          </a:xfrm>
          <a:prstGeom prst="rect">
            <a:avLst/>
          </a:prstGeom>
          <a:noFill/>
          <a:ln/>
        </p:spPr>
        <p:txBody>
          <a:bodyPr wrap="square" lIns="0" tIns="0" rIns="0" bIns="0" rtlCol="0" anchor="ctr"/>
          <a:lstStyle/>
          <a:p>
            <a:pPr marL="0" indent="0" algn="ctr">
              <a:buNone/>
            </a:pPr>
            <a:r>
              <a:rPr lang="en-US" sz="1600" b="1" dirty="0">
                <a:solidFill>
                  <a:srgbClr val="071A44"/>
                </a:solidFill>
              </a:rPr>
              <a:t>The same</a:t>
            </a:r>
            <a:endParaRPr lang="en-US" sz="1600" dirty="0"/>
          </a:p>
          <a:p>
            <a:pPr marL="0" indent="0" algn="ctr">
              <a:buNone/>
            </a:pPr>
            <a:r>
              <a:rPr lang="en-US" sz="1600" b="1" dirty="0">
                <a:solidFill>
                  <a:srgbClr val="071A44"/>
                </a:solidFill>
              </a:rPr>
              <a:t>5 QA questions</a:t>
            </a:r>
            <a:endParaRPr lang="en-US" sz="1600" dirty="0"/>
          </a:p>
          <a:p>
            <a:pPr marL="0" indent="0" algn="ctr">
              <a:buNone/>
            </a:pPr>
            <a:r>
              <a:rPr lang="en-US" sz="1600" b="1" dirty="0">
                <a:solidFill>
                  <a:srgbClr val="071A44"/>
                </a:solidFill>
              </a:rPr>
              <a:t>still apply</a:t>
            </a:r>
            <a:endParaRPr lang="en-US" sz="1600" dirty="0"/>
          </a:p>
        </p:txBody>
      </p:sp>
      <p:sp>
        <p:nvSpPr>
          <p:cNvPr id="9" name="Shape 7"/>
          <p:cNvSpPr/>
          <p:nvPr/>
        </p:nvSpPr>
        <p:spPr>
          <a:xfrm>
            <a:off x="777240" y="1325880"/>
            <a:ext cx="2880360" cy="1783080"/>
          </a:xfrm>
          <a:prstGeom prst="roundRect">
            <a:avLst>
              <a:gd name="adj" fmla="val 6154"/>
            </a:avLst>
          </a:prstGeom>
          <a:solidFill>
            <a:srgbClr val="F5F3FF"/>
          </a:solidFill>
          <a:ln w="12700">
            <a:solidFill>
              <a:srgbClr val="6D28D9"/>
            </a:solidFill>
            <a:prstDash val="solid"/>
          </a:ln>
        </p:spPr>
        <p:txBody>
          <a:bodyPr/>
          <a:lstStyle/>
          <a:p>
            <a:endParaRPr lang="en-US"/>
          </a:p>
        </p:txBody>
      </p:sp>
      <p:sp>
        <p:nvSpPr>
          <p:cNvPr id="10" name="Text 8"/>
          <p:cNvSpPr/>
          <p:nvPr/>
        </p:nvSpPr>
        <p:spPr>
          <a:xfrm>
            <a:off x="1005840" y="1508760"/>
            <a:ext cx="2423160" cy="320040"/>
          </a:xfrm>
          <a:prstGeom prst="rect">
            <a:avLst/>
          </a:prstGeom>
          <a:noFill/>
          <a:ln/>
        </p:spPr>
        <p:txBody>
          <a:bodyPr wrap="square" lIns="0" tIns="0" rIns="0" bIns="0" rtlCol="0" anchor="ctr"/>
          <a:lstStyle/>
          <a:p>
            <a:pPr marL="0" indent="0" algn="ctr">
              <a:buNone/>
            </a:pPr>
            <a:r>
              <a:rPr lang="en-US" sz="1600" b="1" dirty="0">
                <a:solidFill>
                  <a:srgbClr val="6D28D9"/>
                </a:solidFill>
              </a:rPr>
              <a:t>Multi-Agent</a:t>
            </a:r>
            <a:endParaRPr lang="en-US" sz="1600" dirty="0"/>
          </a:p>
          <a:p>
            <a:pPr marL="0" indent="0" algn="ctr">
              <a:buNone/>
            </a:pPr>
            <a:r>
              <a:rPr lang="en-US" sz="1600" b="1" dirty="0">
                <a:solidFill>
                  <a:srgbClr val="6D28D9"/>
                </a:solidFill>
              </a:rPr>
              <a:t>Coordination</a:t>
            </a:r>
            <a:endParaRPr lang="en-US" sz="1600" dirty="0"/>
          </a:p>
        </p:txBody>
      </p:sp>
      <p:sp>
        <p:nvSpPr>
          <p:cNvPr id="11" name="Text 9"/>
          <p:cNvSpPr/>
          <p:nvPr/>
        </p:nvSpPr>
        <p:spPr>
          <a:xfrm>
            <a:off x="1280160" y="1984248"/>
            <a:ext cx="2011680" cy="822960"/>
          </a:xfrm>
          <a:prstGeom prst="rect">
            <a:avLst/>
          </a:prstGeom>
          <a:noFill/>
          <a:ln/>
        </p:spPr>
        <p:txBody>
          <a:bodyPr wrap="square" lIns="0" tIns="0" rIns="0" bIns="0" rtlCol="0" anchor="ctr"/>
          <a:lstStyle/>
          <a:p>
            <a:pPr marL="0" indent="0">
              <a:buNone/>
            </a:pPr>
            <a:r>
              <a:rPr lang="en-US" sz="1150" dirty="0">
                <a:solidFill>
                  <a:srgbClr val="0F172A"/>
                </a:solidFill>
              </a:rPr>
              <a:t>Delegation</a:t>
            </a:r>
            <a:endParaRPr lang="en-US" sz="1150" dirty="0"/>
          </a:p>
          <a:p>
            <a:pPr marL="0" indent="0">
              <a:buNone/>
            </a:pPr>
            <a:r>
              <a:rPr lang="en-US" sz="1150" dirty="0">
                <a:solidFill>
                  <a:srgbClr val="0F172A"/>
                </a:solidFill>
              </a:rPr>
              <a:t>Supervisor / subagent patterns</a:t>
            </a:r>
            <a:endParaRPr lang="en-US" sz="1150" dirty="0"/>
          </a:p>
          <a:p>
            <a:pPr marL="0" indent="0">
              <a:buNone/>
            </a:pPr>
            <a:r>
              <a:rPr lang="en-US" sz="1150" dirty="0">
                <a:solidFill>
                  <a:srgbClr val="0F172A"/>
                </a:solidFill>
              </a:rPr>
              <a:t>Handoffs &amp; context transfer</a:t>
            </a:r>
            <a:endParaRPr lang="en-US" sz="1150" dirty="0"/>
          </a:p>
          <a:p>
            <a:pPr marL="0" indent="0">
              <a:buNone/>
            </a:pPr>
            <a:r>
              <a:rPr lang="en-US" sz="1150" dirty="0">
                <a:solidFill>
                  <a:srgbClr val="0F172A"/>
                </a:solidFill>
              </a:rPr>
              <a:t>Role boundaries</a:t>
            </a:r>
            <a:endParaRPr lang="en-US" sz="1150" dirty="0"/>
          </a:p>
        </p:txBody>
      </p:sp>
      <p:sp>
        <p:nvSpPr>
          <p:cNvPr id="12" name="Shape 10"/>
          <p:cNvSpPr/>
          <p:nvPr/>
        </p:nvSpPr>
        <p:spPr>
          <a:xfrm>
            <a:off x="3657600" y="2194560"/>
            <a:ext cx="1143000" cy="274320"/>
          </a:xfrm>
          <a:prstGeom prst="line">
            <a:avLst/>
          </a:prstGeom>
          <a:noFill/>
          <a:ln w="12700">
            <a:solidFill>
              <a:srgbClr val="6D28D9"/>
            </a:solidFill>
            <a:prstDash val="solid"/>
            <a:headEnd type="none"/>
            <a:tailEnd type="triangle"/>
          </a:ln>
        </p:spPr>
        <p:txBody>
          <a:bodyPr/>
          <a:lstStyle/>
          <a:p>
            <a:endParaRPr lang="en-US"/>
          </a:p>
        </p:txBody>
      </p:sp>
      <p:sp>
        <p:nvSpPr>
          <p:cNvPr id="13" name="Shape 11"/>
          <p:cNvSpPr/>
          <p:nvPr/>
        </p:nvSpPr>
        <p:spPr>
          <a:xfrm>
            <a:off x="777240" y="3886200"/>
            <a:ext cx="2880360" cy="1783080"/>
          </a:xfrm>
          <a:prstGeom prst="roundRect">
            <a:avLst>
              <a:gd name="adj" fmla="val 6154"/>
            </a:avLst>
          </a:prstGeom>
          <a:solidFill>
            <a:srgbClr val="EAF2FF"/>
          </a:solidFill>
          <a:ln w="12700">
            <a:solidFill>
              <a:srgbClr val="155EEF"/>
            </a:solidFill>
            <a:prstDash val="solid"/>
          </a:ln>
        </p:spPr>
        <p:txBody>
          <a:bodyPr/>
          <a:lstStyle/>
          <a:p>
            <a:endParaRPr lang="en-US"/>
          </a:p>
        </p:txBody>
      </p:sp>
      <p:sp>
        <p:nvSpPr>
          <p:cNvPr id="14" name="Text 12"/>
          <p:cNvSpPr/>
          <p:nvPr/>
        </p:nvSpPr>
        <p:spPr>
          <a:xfrm>
            <a:off x="1005840" y="4069080"/>
            <a:ext cx="2423160" cy="320040"/>
          </a:xfrm>
          <a:prstGeom prst="rect">
            <a:avLst/>
          </a:prstGeom>
          <a:noFill/>
          <a:ln/>
        </p:spPr>
        <p:txBody>
          <a:bodyPr wrap="square" lIns="0" tIns="0" rIns="0" bIns="0" rtlCol="0" anchor="ctr"/>
          <a:lstStyle/>
          <a:p>
            <a:pPr marL="0" indent="0" algn="ctr">
              <a:buNone/>
            </a:pPr>
            <a:r>
              <a:rPr lang="en-US" sz="1600" b="1" dirty="0">
                <a:solidFill>
                  <a:srgbClr val="155EEF"/>
                </a:solidFill>
              </a:rPr>
              <a:t>Real-World</a:t>
            </a:r>
            <a:endParaRPr lang="en-US" sz="1600" dirty="0"/>
          </a:p>
          <a:p>
            <a:pPr marL="0" indent="0" algn="ctr">
              <a:buNone/>
            </a:pPr>
            <a:r>
              <a:rPr lang="en-US" sz="1600" b="1" dirty="0">
                <a:solidFill>
                  <a:srgbClr val="155EEF"/>
                </a:solidFill>
              </a:rPr>
              <a:t>Integrations</a:t>
            </a:r>
            <a:endParaRPr lang="en-US" sz="1600" dirty="0"/>
          </a:p>
        </p:txBody>
      </p:sp>
      <p:sp>
        <p:nvSpPr>
          <p:cNvPr id="15" name="Text 13"/>
          <p:cNvSpPr/>
          <p:nvPr/>
        </p:nvSpPr>
        <p:spPr>
          <a:xfrm>
            <a:off x="1280160" y="4544568"/>
            <a:ext cx="2011680" cy="822960"/>
          </a:xfrm>
          <a:prstGeom prst="rect">
            <a:avLst/>
          </a:prstGeom>
          <a:noFill/>
          <a:ln/>
        </p:spPr>
        <p:txBody>
          <a:bodyPr wrap="square" lIns="0" tIns="0" rIns="0" bIns="0" rtlCol="0" anchor="ctr"/>
          <a:lstStyle/>
          <a:p>
            <a:pPr marL="0" indent="0">
              <a:buNone/>
            </a:pPr>
            <a:r>
              <a:rPr lang="en-US" sz="1150" dirty="0">
                <a:solidFill>
                  <a:srgbClr val="0F172A"/>
                </a:solidFill>
              </a:rPr>
              <a:t>APIs &amp; services</a:t>
            </a:r>
            <a:endParaRPr lang="en-US" sz="1150" dirty="0"/>
          </a:p>
          <a:p>
            <a:pPr marL="0" indent="0">
              <a:buNone/>
            </a:pPr>
            <a:r>
              <a:rPr lang="en-US" sz="1150" dirty="0">
                <a:solidFill>
                  <a:srgbClr val="0F172A"/>
                </a:solidFill>
              </a:rPr>
              <a:t>External systems</a:t>
            </a:r>
            <a:endParaRPr lang="en-US" sz="1150" dirty="0"/>
          </a:p>
          <a:p>
            <a:pPr marL="0" indent="0">
              <a:buNone/>
            </a:pPr>
            <a:r>
              <a:rPr lang="en-US" sz="1150" dirty="0">
                <a:solidFill>
                  <a:srgbClr val="0F172A"/>
                </a:solidFill>
              </a:rPr>
              <a:t>Side effects</a:t>
            </a:r>
            <a:endParaRPr lang="en-US" sz="1150" dirty="0"/>
          </a:p>
          <a:p>
            <a:pPr marL="0" indent="0">
              <a:buNone/>
            </a:pPr>
            <a:r>
              <a:rPr lang="en-US" sz="1150" dirty="0">
                <a:solidFill>
                  <a:srgbClr val="0F172A"/>
                </a:solidFill>
              </a:rPr>
              <a:t>Humans in the loop</a:t>
            </a:r>
            <a:endParaRPr lang="en-US" sz="1150" dirty="0"/>
          </a:p>
        </p:txBody>
      </p:sp>
      <p:sp>
        <p:nvSpPr>
          <p:cNvPr id="16" name="Shape 14"/>
          <p:cNvSpPr/>
          <p:nvPr/>
        </p:nvSpPr>
        <p:spPr>
          <a:xfrm flipV="1">
            <a:off x="3657600" y="3675888"/>
            <a:ext cx="1143000" cy="1078992"/>
          </a:xfrm>
          <a:prstGeom prst="line">
            <a:avLst/>
          </a:prstGeom>
          <a:noFill/>
          <a:ln w="12700">
            <a:solidFill>
              <a:srgbClr val="155EEF"/>
            </a:solidFill>
            <a:prstDash val="solid"/>
            <a:headEnd type="none"/>
            <a:tailEnd type="triangle"/>
          </a:ln>
        </p:spPr>
        <p:txBody>
          <a:bodyPr/>
          <a:lstStyle/>
          <a:p>
            <a:endParaRPr lang="en-US"/>
          </a:p>
        </p:txBody>
      </p:sp>
      <p:sp>
        <p:nvSpPr>
          <p:cNvPr id="17" name="Shape 15"/>
          <p:cNvSpPr/>
          <p:nvPr/>
        </p:nvSpPr>
        <p:spPr>
          <a:xfrm>
            <a:off x="8229600" y="1325880"/>
            <a:ext cx="2880360" cy="1783080"/>
          </a:xfrm>
          <a:prstGeom prst="roundRect">
            <a:avLst>
              <a:gd name="adj" fmla="val 6154"/>
            </a:avLst>
          </a:prstGeom>
          <a:solidFill>
            <a:srgbClr val="FFF3E8"/>
          </a:solidFill>
          <a:ln w="12700">
            <a:solidFill>
              <a:srgbClr val="F97316"/>
            </a:solidFill>
            <a:prstDash val="solid"/>
          </a:ln>
        </p:spPr>
        <p:txBody>
          <a:bodyPr/>
          <a:lstStyle/>
          <a:p>
            <a:endParaRPr lang="en-US"/>
          </a:p>
        </p:txBody>
      </p:sp>
      <p:sp>
        <p:nvSpPr>
          <p:cNvPr id="18" name="Text 16"/>
          <p:cNvSpPr/>
          <p:nvPr/>
        </p:nvSpPr>
        <p:spPr>
          <a:xfrm>
            <a:off x="8458200" y="1508760"/>
            <a:ext cx="2423160" cy="320040"/>
          </a:xfrm>
          <a:prstGeom prst="rect">
            <a:avLst/>
          </a:prstGeom>
          <a:noFill/>
          <a:ln/>
        </p:spPr>
        <p:txBody>
          <a:bodyPr wrap="square" lIns="0" tIns="0" rIns="0" bIns="0" rtlCol="0" anchor="ctr"/>
          <a:lstStyle/>
          <a:p>
            <a:pPr marL="0" indent="0" algn="ctr">
              <a:buNone/>
            </a:pPr>
            <a:r>
              <a:rPr lang="en-US" sz="1600" b="1" dirty="0">
                <a:solidFill>
                  <a:srgbClr val="F97316"/>
                </a:solidFill>
              </a:rPr>
              <a:t>Non-Determinism</a:t>
            </a:r>
            <a:endParaRPr lang="en-US" sz="1600" dirty="0"/>
          </a:p>
        </p:txBody>
      </p:sp>
      <p:sp>
        <p:nvSpPr>
          <p:cNvPr id="19" name="Text 17"/>
          <p:cNvSpPr/>
          <p:nvPr/>
        </p:nvSpPr>
        <p:spPr>
          <a:xfrm>
            <a:off x="8732520" y="1984248"/>
            <a:ext cx="2011680" cy="822960"/>
          </a:xfrm>
          <a:prstGeom prst="rect">
            <a:avLst/>
          </a:prstGeom>
          <a:noFill/>
          <a:ln/>
        </p:spPr>
        <p:txBody>
          <a:bodyPr wrap="square" lIns="0" tIns="0" rIns="0" bIns="0" rtlCol="0" anchor="ctr"/>
          <a:lstStyle/>
          <a:p>
            <a:pPr marL="0" indent="0">
              <a:buNone/>
            </a:pPr>
            <a:r>
              <a:rPr lang="en-US" sz="1150" dirty="0">
                <a:solidFill>
                  <a:srgbClr val="0F172A"/>
                </a:solidFill>
              </a:rPr>
              <a:t>Variance in outputs</a:t>
            </a:r>
            <a:endParaRPr lang="en-US" sz="1150" dirty="0"/>
          </a:p>
          <a:p>
            <a:pPr marL="0" indent="0">
              <a:buNone/>
            </a:pPr>
            <a:r>
              <a:rPr lang="en-US" sz="1150" dirty="0">
                <a:solidFill>
                  <a:srgbClr val="0F172A"/>
                </a:solidFill>
              </a:rPr>
              <a:t>Uncertainty</a:t>
            </a:r>
            <a:endParaRPr lang="en-US" sz="1150" dirty="0"/>
          </a:p>
          <a:p>
            <a:pPr marL="0" indent="0">
              <a:buNone/>
            </a:pPr>
            <a:r>
              <a:rPr lang="en-US" sz="1150" dirty="0">
                <a:solidFill>
                  <a:srgbClr val="0F172A"/>
                </a:solidFill>
              </a:rPr>
              <a:t>Probabilistic paths</a:t>
            </a:r>
            <a:endParaRPr lang="en-US" sz="1150" dirty="0"/>
          </a:p>
          <a:p>
            <a:pPr marL="0" indent="0">
              <a:buNone/>
            </a:pPr>
            <a:r>
              <a:rPr lang="en-US" sz="1150" dirty="0">
                <a:solidFill>
                  <a:srgbClr val="0F172A"/>
                </a:solidFill>
              </a:rPr>
              <a:t>Harder to reproduce</a:t>
            </a:r>
            <a:endParaRPr lang="en-US" sz="1150" dirty="0"/>
          </a:p>
        </p:txBody>
      </p:sp>
      <p:sp>
        <p:nvSpPr>
          <p:cNvPr id="20" name="Shape 18"/>
          <p:cNvSpPr/>
          <p:nvPr/>
        </p:nvSpPr>
        <p:spPr>
          <a:xfrm>
            <a:off x="8229600" y="2194560"/>
            <a:ext cx="0" cy="274320"/>
          </a:xfrm>
          <a:prstGeom prst="line">
            <a:avLst/>
          </a:prstGeom>
          <a:noFill/>
          <a:ln w="12700">
            <a:solidFill>
              <a:srgbClr val="F97316"/>
            </a:solidFill>
            <a:prstDash val="solid"/>
            <a:headEnd type="none"/>
            <a:tailEnd type="triangle"/>
          </a:ln>
        </p:spPr>
        <p:txBody>
          <a:bodyPr/>
          <a:lstStyle/>
          <a:p>
            <a:endParaRPr lang="en-US"/>
          </a:p>
        </p:txBody>
      </p:sp>
      <p:sp>
        <p:nvSpPr>
          <p:cNvPr id="21" name="Shape 19"/>
          <p:cNvSpPr/>
          <p:nvPr/>
        </p:nvSpPr>
        <p:spPr>
          <a:xfrm>
            <a:off x="8229600" y="3886200"/>
            <a:ext cx="2880360" cy="1783080"/>
          </a:xfrm>
          <a:prstGeom prst="roundRect">
            <a:avLst>
              <a:gd name="adj" fmla="val 6154"/>
            </a:avLst>
          </a:prstGeom>
          <a:solidFill>
            <a:srgbClr val="ECFDF3"/>
          </a:solidFill>
          <a:ln w="12700">
            <a:solidFill>
              <a:srgbClr val="078A4A"/>
            </a:solidFill>
            <a:prstDash val="solid"/>
          </a:ln>
        </p:spPr>
        <p:txBody>
          <a:bodyPr/>
          <a:lstStyle/>
          <a:p>
            <a:endParaRPr lang="en-US"/>
          </a:p>
        </p:txBody>
      </p:sp>
      <p:sp>
        <p:nvSpPr>
          <p:cNvPr id="22" name="Text 20"/>
          <p:cNvSpPr/>
          <p:nvPr/>
        </p:nvSpPr>
        <p:spPr>
          <a:xfrm>
            <a:off x="8458200" y="4069080"/>
            <a:ext cx="2423160" cy="320040"/>
          </a:xfrm>
          <a:prstGeom prst="rect">
            <a:avLst/>
          </a:prstGeom>
          <a:noFill/>
          <a:ln/>
        </p:spPr>
        <p:txBody>
          <a:bodyPr wrap="square" lIns="0" tIns="0" rIns="0" bIns="0" rtlCol="0" anchor="ctr"/>
          <a:lstStyle/>
          <a:p>
            <a:pPr marL="0" indent="0" algn="ctr">
              <a:buNone/>
            </a:pPr>
            <a:r>
              <a:rPr lang="en-US" sz="1600" b="1" dirty="0">
                <a:solidFill>
                  <a:srgbClr val="078A4A"/>
                </a:solidFill>
              </a:rPr>
              <a:t>Observability</a:t>
            </a:r>
            <a:endParaRPr lang="en-US" sz="1600" dirty="0"/>
          </a:p>
          <a:p>
            <a:pPr marL="0" indent="0" algn="ctr">
              <a:buNone/>
            </a:pPr>
            <a:r>
              <a:rPr lang="en-US" sz="1600" b="1" dirty="0">
                <a:solidFill>
                  <a:srgbClr val="078A4A"/>
                </a:solidFill>
              </a:rPr>
              <a:t>Burden</a:t>
            </a:r>
            <a:endParaRPr lang="en-US" sz="1600" dirty="0"/>
          </a:p>
        </p:txBody>
      </p:sp>
      <p:sp>
        <p:nvSpPr>
          <p:cNvPr id="23" name="Text 21"/>
          <p:cNvSpPr/>
          <p:nvPr/>
        </p:nvSpPr>
        <p:spPr>
          <a:xfrm>
            <a:off x="8732520" y="4544568"/>
            <a:ext cx="2011680" cy="822960"/>
          </a:xfrm>
          <a:prstGeom prst="rect">
            <a:avLst/>
          </a:prstGeom>
          <a:noFill/>
          <a:ln/>
        </p:spPr>
        <p:txBody>
          <a:bodyPr wrap="square" lIns="0" tIns="0" rIns="0" bIns="0" rtlCol="0" anchor="ctr"/>
          <a:lstStyle/>
          <a:p>
            <a:pPr marL="0" indent="0">
              <a:buNone/>
            </a:pPr>
            <a:r>
              <a:rPr lang="en-US" sz="1150" dirty="0">
                <a:solidFill>
                  <a:srgbClr val="0F172A"/>
                </a:solidFill>
              </a:rPr>
              <a:t>Trace correlation</a:t>
            </a:r>
            <a:endParaRPr lang="en-US" sz="1150" dirty="0"/>
          </a:p>
          <a:p>
            <a:pPr marL="0" indent="0">
              <a:buNone/>
            </a:pPr>
            <a:r>
              <a:rPr lang="en-US" sz="1150" dirty="0">
                <a:solidFill>
                  <a:srgbClr val="0F172A"/>
                </a:solidFill>
              </a:rPr>
              <a:t>Causal reconstruction</a:t>
            </a:r>
            <a:endParaRPr lang="en-US" sz="1150" dirty="0"/>
          </a:p>
          <a:p>
            <a:pPr marL="0" indent="0">
              <a:buNone/>
            </a:pPr>
            <a:r>
              <a:rPr lang="en-US" sz="1150" dirty="0">
                <a:solidFill>
                  <a:srgbClr val="0F172A"/>
                </a:solidFill>
              </a:rPr>
              <a:t>Session &amp; journey visibility</a:t>
            </a:r>
            <a:endParaRPr lang="en-US" sz="1150" dirty="0"/>
          </a:p>
          <a:p>
            <a:pPr marL="0" indent="0">
              <a:buNone/>
            </a:pPr>
            <a:r>
              <a:rPr lang="en-US" sz="1150" dirty="0">
                <a:solidFill>
                  <a:srgbClr val="0F172A"/>
                </a:solidFill>
              </a:rPr>
              <a:t>Higher data &amp; signal needs</a:t>
            </a:r>
            <a:endParaRPr lang="en-US" sz="1150" dirty="0"/>
          </a:p>
        </p:txBody>
      </p:sp>
      <p:sp>
        <p:nvSpPr>
          <p:cNvPr id="24" name="Shape 22"/>
          <p:cNvSpPr/>
          <p:nvPr/>
        </p:nvSpPr>
        <p:spPr>
          <a:xfrm>
            <a:off x="8229600" y="4754880"/>
            <a:ext cx="0" cy="274320"/>
          </a:xfrm>
          <a:prstGeom prst="line">
            <a:avLst/>
          </a:prstGeom>
          <a:noFill/>
          <a:ln w="12700">
            <a:solidFill>
              <a:srgbClr val="078A4A"/>
            </a:solidFill>
            <a:prstDash val="solid"/>
            <a:headEnd type="none"/>
            <a:tailEnd type="triangle"/>
          </a:ln>
        </p:spPr>
        <p:txBody>
          <a:bodyPr/>
          <a:lstStyle/>
          <a:p>
            <a:endParaRPr lang="en-US"/>
          </a:p>
        </p:txBody>
      </p:sp>
      <p:sp>
        <p:nvSpPr>
          <p:cNvPr id="25" name="Shape 23"/>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6" name="Text 24"/>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More agents and more integrations do not replace the QA model — they increase the testing burden in every domain.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228600" y="228600"/>
            <a:ext cx="384048" cy="384048"/>
          </a:xfrm>
          <a:prstGeom prst="ellipse">
            <a:avLst/>
          </a:prstGeom>
          <a:solidFill>
            <a:srgbClr val="071A44"/>
          </a:solidFill>
          <a:ln w="12700">
            <a:solidFill>
              <a:srgbClr val="071A44"/>
            </a:solidFill>
            <a:prstDash val="solid"/>
          </a:ln>
        </p:spPr>
        <p:txBody>
          <a:bodyPr/>
          <a:lstStyle/>
          <a:p>
            <a:endParaRPr lang="en-US"/>
          </a:p>
        </p:txBody>
      </p:sp>
      <p:sp>
        <p:nvSpPr>
          <p:cNvPr id="3" name="Text 1"/>
          <p:cNvSpPr/>
          <p:nvPr/>
        </p:nvSpPr>
        <p:spPr>
          <a:xfrm>
            <a:off x="228600" y="283464"/>
            <a:ext cx="384048" cy="164592"/>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4" name="Text 2"/>
          <p:cNvSpPr/>
          <p:nvPr/>
        </p:nvSpPr>
        <p:spPr>
          <a:xfrm>
            <a:off x="822960" y="777240"/>
            <a:ext cx="9875520" cy="411480"/>
          </a:xfrm>
          <a:prstGeom prst="rect">
            <a:avLst/>
          </a:prstGeom>
          <a:noFill/>
          <a:ln/>
        </p:spPr>
        <p:txBody>
          <a:bodyPr wrap="square" lIns="0" tIns="0" rIns="0" bIns="0" rtlCol="0" anchor="ctr"/>
          <a:lstStyle/>
          <a:p>
            <a:pPr marL="0" indent="0">
              <a:buNone/>
            </a:pPr>
            <a:r>
              <a:rPr lang="en-US" sz="3400" b="1" dirty="0">
                <a:solidFill>
                  <a:srgbClr val="071A44"/>
                </a:solidFill>
                <a:latin typeface="Aptos Display" pitchFamily="34" charset="0"/>
                <a:ea typeface="Aptos Display" pitchFamily="34" charset="-122"/>
                <a:cs typeface="Aptos Display" pitchFamily="34" charset="-120"/>
              </a:rPr>
              <a:t>QA does not disappear in Agentic AI.</a:t>
            </a:r>
            <a:endParaRPr lang="en-US" sz="3400" dirty="0"/>
          </a:p>
        </p:txBody>
      </p:sp>
      <p:sp>
        <p:nvSpPr>
          <p:cNvPr id="5" name="Text 3"/>
          <p:cNvSpPr/>
          <p:nvPr/>
        </p:nvSpPr>
        <p:spPr>
          <a:xfrm>
            <a:off x="822960" y="1261872"/>
            <a:ext cx="4114800" cy="411480"/>
          </a:xfrm>
          <a:prstGeom prst="rect">
            <a:avLst/>
          </a:prstGeom>
          <a:noFill/>
          <a:ln/>
        </p:spPr>
        <p:txBody>
          <a:bodyPr wrap="square" lIns="0" tIns="0" rIns="0" bIns="0" rtlCol="0" anchor="ctr"/>
          <a:lstStyle/>
          <a:p>
            <a:pPr marL="0" indent="0">
              <a:buNone/>
            </a:pPr>
            <a:r>
              <a:rPr lang="en-US" sz="3400" b="1" dirty="0">
                <a:solidFill>
                  <a:srgbClr val="6D28D9"/>
                </a:solidFill>
                <a:latin typeface="Aptos Display" pitchFamily="34" charset="0"/>
                <a:ea typeface="Aptos Display" pitchFamily="34" charset="-122"/>
                <a:cs typeface="Aptos Display" pitchFamily="34" charset="-120"/>
              </a:rPr>
              <a:t>It expands.</a:t>
            </a:r>
            <a:endParaRPr lang="en-US" sz="3400" dirty="0"/>
          </a:p>
        </p:txBody>
      </p:sp>
      <p:sp>
        <p:nvSpPr>
          <p:cNvPr id="6" name="Shape 4"/>
          <p:cNvSpPr/>
          <p:nvPr/>
        </p:nvSpPr>
        <p:spPr>
          <a:xfrm>
            <a:off x="868680" y="2057400"/>
            <a:ext cx="10469880" cy="2240280"/>
          </a:xfrm>
          <a:prstGeom prst="roundRect">
            <a:avLst>
              <a:gd name="adj" fmla="val 4898"/>
            </a:avLst>
          </a:prstGeom>
          <a:solidFill>
            <a:srgbClr val="FFFFFF"/>
          </a:solidFill>
          <a:ln w="12700">
            <a:solidFill>
              <a:srgbClr val="D7E3F3"/>
            </a:solidFill>
            <a:prstDash val="solid"/>
          </a:ln>
        </p:spPr>
        <p:txBody>
          <a:bodyPr/>
          <a:lstStyle/>
          <a:p>
            <a:endParaRPr lang="en-US"/>
          </a:p>
        </p:txBody>
      </p:sp>
      <p:sp>
        <p:nvSpPr>
          <p:cNvPr id="7" name="Text 5"/>
          <p:cNvSpPr/>
          <p:nvPr/>
        </p:nvSpPr>
        <p:spPr>
          <a:xfrm>
            <a:off x="1234440" y="2423160"/>
            <a:ext cx="2834640" cy="228600"/>
          </a:xfrm>
          <a:prstGeom prst="rect">
            <a:avLst/>
          </a:prstGeom>
          <a:noFill/>
          <a:ln/>
        </p:spPr>
        <p:txBody>
          <a:bodyPr wrap="square" lIns="0" tIns="0" rIns="0" bIns="0" rtlCol="0" anchor="ctr"/>
          <a:lstStyle/>
          <a:p>
            <a:pPr marL="0" indent="0">
              <a:buNone/>
            </a:pPr>
            <a:r>
              <a:rPr lang="en-US" sz="2000" b="1" dirty="0">
                <a:solidFill>
                  <a:srgbClr val="64748B"/>
                </a:solidFill>
              </a:rPr>
              <a:t>From final answers to…</a:t>
            </a:r>
            <a:endParaRPr lang="en-US" sz="2000" dirty="0"/>
          </a:p>
        </p:txBody>
      </p:sp>
      <p:sp>
        <p:nvSpPr>
          <p:cNvPr id="8" name="Shape 6"/>
          <p:cNvSpPr/>
          <p:nvPr/>
        </p:nvSpPr>
        <p:spPr>
          <a:xfrm>
            <a:off x="1234440" y="2971800"/>
            <a:ext cx="1572768" cy="731520"/>
          </a:xfrm>
          <a:prstGeom prst="roundRect">
            <a:avLst>
              <a:gd name="adj" fmla="val 15000"/>
            </a:avLst>
          </a:prstGeom>
          <a:solidFill>
            <a:srgbClr val="F8FAFC"/>
          </a:solidFill>
          <a:ln w="12700">
            <a:solidFill>
              <a:srgbClr val="E11D48"/>
            </a:solidFill>
            <a:prstDash val="solid"/>
          </a:ln>
        </p:spPr>
        <p:txBody>
          <a:bodyPr/>
          <a:lstStyle/>
          <a:p>
            <a:endParaRPr lang="en-US"/>
          </a:p>
        </p:txBody>
      </p:sp>
      <p:sp>
        <p:nvSpPr>
          <p:cNvPr id="9" name="Text 7"/>
          <p:cNvSpPr/>
          <p:nvPr/>
        </p:nvSpPr>
        <p:spPr>
          <a:xfrm>
            <a:off x="1234440" y="3182112"/>
            <a:ext cx="1572768" cy="164592"/>
          </a:xfrm>
          <a:prstGeom prst="rect">
            <a:avLst/>
          </a:prstGeom>
          <a:noFill/>
          <a:ln/>
        </p:spPr>
        <p:txBody>
          <a:bodyPr wrap="square" lIns="0" tIns="0" rIns="0" bIns="0" rtlCol="0" anchor="ctr"/>
          <a:lstStyle/>
          <a:p>
            <a:pPr marL="0" indent="0" algn="ctr">
              <a:buNone/>
            </a:pPr>
            <a:r>
              <a:rPr lang="en-US" sz="1500" b="1" dirty="0">
                <a:solidFill>
                  <a:srgbClr val="E11D48"/>
                </a:solidFill>
              </a:rPr>
              <a:t>Policies</a:t>
            </a:r>
            <a:endParaRPr lang="en-US" sz="1500" dirty="0"/>
          </a:p>
        </p:txBody>
      </p:sp>
      <p:sp>
        <p:nvSpPr>
          <p:cNvPr id="10" name="Shape 8"/>
          <p:cNvSpPr/>
          <p:nvPr/>
        </p:nvSpPr>
        <p:spPr>
          <a:xfrm>
            <a:off x="3154680" y="2971800"/>
            <a:ext cx="1572768" cy="731520"/>
          </a:xfrm>
          <a:prstGeom prst="roundRect">
            <a:avLst>
              <a:gd name="adj" fmla="val 15000"/>
            </a:avLst>
          </a:prstGeom>
          <a:solidFill>
            <a:srgbClr val="F8FAFC"/>
          </a:solidFill>
          <a:ln w="12700">
            <a:solidFill>
              <a:srgbClr val="F97316"/>
            </a:solidFill>
            <a:prstDash val="solid"/>
          </a:ln>
        </p:spPr>
        <p:txBody>
          <a:bodyPr/>
          <a:lstStyle/>
          <a:p>
            <a:endParaRPr lang="en-US"/>
          </a:p>
        </p:txBody>
      </p:sp>
      <p:sp>
        <p:nvSpPr>
          <p:cNvPr id="11" name="Text 9"/>
          <p:cNvSpPr/>
          <p:nvPr/>
        </p:nvSpPr>
        <p:spPr>
          <a:xfrm>
            <a:off x="3154680" y="3182112"/>
            <a:ext cx="1572768" cy="164592"/>
          </a:xfrm>
          <a:prstGeom prst="rect">
            <a:avLst/>
          </a:prstGeom>
          <a:noFill/>
          <a:ln/>
        </p:spPr>
        <p:txBody>
          <a:bodyPr wrap="square" lIns="0" tIns="0" rIns="0" bIns="0" rtlCol="0" anchor="ctr"/>
          <a:lstStyle/>
          <a:p>
            <a:pPr marL="0" indent="0" algn="ctr">
              <a:buNone/>
            </a:pPr>
            <a:r>
              <a:rPr lang="en-US" sz="1500" b="1" dirty="0">
                <a:solidFill>
                  <a:srgbClr val="F97316"/>
                </a:solidFill>
              </a:rPr>
              <a:t>Paths</a:t>
            </a:r>
            <a:endParaRPr lang="en-US" sz="1500" dirty="0"/>
          </a:p>
        </p:txBody>
      </p:sp>
      <p:sp>
        <p:nvSpPr>
          <p:cNvPr id="12" name="Shape 10"/>
          <p:cNvSpPr/>
          <p:nvPr/>
        </p:nvSpPr>
        <p:spPr>
          <a:xfrm>
            <a:off x="5074920" y="2971800"/>
            <a:ext cx="1572768" cy="731520"/>
          </a:xfrm>
          <a:prstGeom prst="roundRect">
            <a:avLst>
              <a:gd name="adj" fmla="val 15000"/>
            </a:avLst>
          </a:prstGeom>
          <a:solidFill>
            <a:srgbClr val="F8FAFC"/>
          </a:solidFill>
          <a:ln w="12700">
            <a:solidFill>
              <a:srgbClr val="0F766E"/>
            </a:solidFill>
            <a:prstDash val="solid"/>
          </a:ln>
        </p:spPr>
        <p:txBody>
          <a:bodyPr/>
          <a:lstStyle/>
          <a:p>
            <a:endParaRPr lang="en-US"/>
          </a:p>
        </p:txBody>
      </p:sp>
      <p:sp>
        <p:nvSpPr>
          <p:cNvPr id="13" name="Text 11"/>
          <p:cNvSpPr/>
          <p:nvPr/>
        </p:nvSpPr>
        <p:spPr>
          <a:xfrm>
            <a:off x="5074920" y="3182112"/>
            <a:ext cx="1572768" cy="164592"/>
          </a:xfrm>
          <a:prstGeom prst="rect">
            <a:avLst/>
          </a:prstGeom>
          <a:noFill/>
          <a:ln/>
        </p:spPr>
        <p:txBody>
          <a:bodyPr wrap="square" lIns="0" tIns="0" rIns="0" bIns="0" rtlCol="0" anchor="ctr"/>
          <a:lstStyle/>
          <a:p>
            <a:pPr marL="0" indent="0" algn="ctr">
              <a:buNone/>
            </a:pPr>
            <a:r>
              <a:rPr lang="en-US" sz="1500" b="1" dirty="0">
                <a:solidFill>
                  <a:srgbClr val="0F766E"/>
                </a:solidFill>
              </a:rPr>
              <a:t>Actions</a:t>
            </a:r>
            <a:endParaRPr lang="en-US" sz="1500" dirty="0"/>
          </a:p>
        </p:txBody>
      </p:sp>
      <p:sp>
        <p:nvSpPr>
          <p:cNvPr id="14" name="Shape 12"/>
          <p:cNvSpPr/>
          <p:nvPr/>
        </p:nvSpPr>
        <p:spPr>
          <a:xfrm>
            <a:off x="6995160" y="2971800"/>
            <a:ext cx="1572768" cy="731520"/>
          </a:xfrm>
          <a:prstGeom prst="roundRect">
            <a:avLst>
              <a:gd name="adj" fmla="val 15000"/>
            </a:avLst>
          </a:prstGeom>
          <a:solidFill>
            <a:srgbClr val="F8FAFC"/>
          </a:solidFill>
          <a:ln w="12700">
            <a:solidFill>
              <a:srgbClr val="078A4A"/>
            </a:solidFill>
            <a:prstDash val="solid"/>
          </a:ln>
        </p:spPr>
        <p:txBody>
          <a:bodyPr/>
          <a:lstStyle/>
          <a:p>
            <a:endParaRPr lang="en-US"/>
          </a:p>
        </p:txBody>
      </p:sp>
      <p:sp>
        <p:nvSpPr>
          <p:cNvPr id="15" name="Text 13"/>
          <p:cNvSpPr/>
          <p:nvPr/>
        </p:nvSpPr>
        <p:spPr>
          <a:xfrm>
            <a:off x="6995160" y="3182112"/>
            <a:ext cx="1572768" cy="164592"/>
          </a:xfrm>
          <a:prstGeom prst="rect">
            <a:avLst/>
          </a:prstGeom>
          <a:noFill/>
          <a:ln/>
        </p:spPr>
        <p:txBody>
          <a:bodyPr wrap="square" lIns="0" tIns="0" rIns="0" bIns="0" rtlCol="0" anchor="ctr"/>
          <a:lstStyle/>
          <a:p>
            <a:pPr marL="0" indent="0" algn="ctr">
              <a:buNone/>
            </a:pPr>
            <a:r>
              <a:rPr lang="en-US" sz="1500" b="1" dirty="0">
                <a:solidFill>
                  <a:srgbClr val="078A4A"/>
                </a:solidFill>
              </a:rPr>
              <a:t>Context</a:t>
            </a:r>
            <a:endParaRPr lang="en-US" sz="1500" dirty="0"/>
          </a:p>
        </p:txBody>
      </p:sp>
      <p:sp>
        <p:nvSpPr>
          <p:cNvPr id="16" name="Shape 14"/>
          <p:cNvSpPr/>
          <p:nvPr/>
        </p:nvSpPr>
        <p:spPr>
          <a:xfrm>
            <a:off x="8915400" y="2971800"/>
            <a:ext cx="1572768" cy="731520"/>
          </a:xfrm>
          <a:prstGeom prst="roundRect">
            <a:avLst>
              <a:gd name="adj" fmla="val 15000"/>
            </a:avLst>
          </a:prstGeom>
          <a:solidFill>
            <a:srgbClr val="F8FAFC"/>
          </a:solidFill>
          <a:ln w="12700">
            <a:solidFill>
              <a:srgbClr val="6D28D9"/>
            </a:solidFill>
            <a:prstDash val="solid"/>
          </a:ln>
        </p:spPr>
        <p:txBody>
          <a:bodyPr/>
          <a:lstStyle/>
          <a:p>
            <a:endParaRPr lang="en-US"/>
          </a:p>
        </p:txBody>
      </p:sp>
      <p:sp>
        <p:nvSpPr>
          <p:cNvPr id="17" name="Text 15"/>
          <p:cNvSpPr/>
          <p:nvPr/>
        </p:nvSpPr>
        <p:spPr>
          <a:xfrm>
            <a:off x="8915400" y="3182112"/>
            <a:ext cx="1572768" cy="164592"/>
          </a:xfrm>
          <a:prstGeom prst="rect">
            <a:avLst/>
          </a:prstGeom>
          <a:noFill/>
          <a:ln/>
        </p:spPr>
        <p:txBody>
          <a:bodyPr wrap="square" lIns="0" tIns="0" rIns="0" bIns="0" rtlCol="0" anchor="ctr"/>
          <a:lstStyle/>
          <a:p>
            <a:pPr marL="0" indent="0" algn="ctr">
              <a:buNone/>
            </a:pPr>
            <a:r>
              <a:rPr lang="en-US" sz="1500" b="1" dirty="0">
                <a:solidFill>
                  <a:srgbClr val="6D28D9"/>
                </a:solidFill>
              </a:rPr>
              <a:t>Evidence</a:t>
            </a:r>
            <a:endParaRPr lang="en-US" sz="1500" dirty="0"/>
          </a:p>
        </p:txBody>
      </p:sp>
      <p:sp>
        <p:nvSpPr>
          <p:cNvPr id="18" name="Text 16"/>
          <p:cNvSpPr/>
          <p:nvPr/>
        </p:nvSpPr>
        <p:spPr>
          <a:xfrm>
            <a:off x="1005840" y="4892040"/>
            <a:ext cx="10149840" cy="411480"/>
          </a:xfrm>
          <a:prstGeom prst="rect">
            <a:avLst/>
          </a:prstGeom>
          <a:noFill/>
          <a:ln/>
        </p:spPr>
        <p:txBody>
          <a:bodyPr wrap="square" lIns="0" tIns="0" rIns="0" bIns="0" rtlCol="0" anchor="ctr"/>
          <a:lstStyle/>
          <a:p>
            <a:pPr marL="0" indent="0" algn="ctr">
              <a:buNone/>
            </a:pPr>
            <a:r>
              <a:rPr lang="en-US" sz="1800" b="1" dirty="0">
                <a:solidFill>
                  <a:srgbClr val="071A44"/>
                </a:solidFill>
              </a:rPr>
              <a:t>Practical start: ask the same five QA questions, then gather the right evidence and oracle for each domain.</a:t>
            </a:r>
            <a:endParaRPr lang="en-US" sz="1800" dirty="0"/>
          </a:p>
        </p:txBody>
      </p:sp>
      <p:sp>
        <p:nvSpPr>
          <p:cNvPr id="19" name="Shape 17"/>
          <p:cNvSpPr/>
          <p:nvPr/>
        </p:nvSpPr>
        <p:spPr>
          <a:xfrm>
            <a:off x="502920" y="6327648"/>
            <a:ext cx="11201400" cy="292608"/>
          </a:xfrm>
          <a:prstGeom prst="roundRect">
            <a:avLst>
              <a:gd name="adj" fmla="val 21875"/>
            </a:avLst>
          </a:prstGeom>
          <a:solidFill>
            <a:srgbClr val="F1F5F9"/>
          </a:solidFill>
          <a:ln w="12700">
            <a:solidFill>
              <a:srgbClr val="E2E8F0"/>
            </a:solidFill>
            <a:prstDash val="solid"/>
          </a:ln>
        </p:spPr>
        <p:txBody>
          <a:bodyPr/>
          <a:lstStyle/>
          <a:p>
            <a:endParaRPr lang="en-US"/>
          </a:p>
        </p:txBody>
      </p:sp>
      <p:sp>
        <p:nvSpPr>
          <p:cNvPr id="20" name="Text 18"/>
          <p:cNvSpPr/>
          <p:nvPr/>
        </p:nvSpPr>
        <p:spPr>
          <a:xfrm>
            <a:off x="685800" y="6391656"/>
            <a:ext cx="10789920" cy="137160"/>
          </a:xfrm>
          <a:prstGeom prst="rect">
            <a:avLst/>
          </a:prstGeom>
          <a:noFill/>
          <a:ln/>
        </p:spPr>
        <p:txBody>
          <a:bodyPr wrap="square" lIns="0" tIns="0" rIns="0" bIns="0" rtlCol="0" anchor="ctr"/>
          <a:lstStyle/>
          <a:p>
            <a:pPr marL="0" indent="0">
              <a:buNone/>
            </a:pPr>
            <a:r>
              <a:rPr lang="en-US" sz="1050" b="1" dirty="0">
                <a:solidFill>
                  <a:srgbClr val="071A44"/>
                </a:solidFill>
              </a:rPr>
              <a:t>In agentic AI, testing the answer is no longer enough. We need to test the behavior.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3024</Words>
  <Application>Microsoft Office PowerPoint</Application>
  <PresentationFormat>Widescreen</PresentationFormat>
  <Paragraphs>267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 in Agentic AI: from output testing to behavioral evaluation</dc:title>
  <dc:subject>QA in Agentic AI</dc:subject>
  <dc:creator>OpenAI</dc:creator>
  <cp:lastModifiedBy>Yanina Laufer</cp:lastModifiedBy>
  <cp:revision>4</cp:revision>
  <dcterms:created xsi:type="dcterms:W3CDTF">2026-05-03T18:54:10Z</dcterms:created>
  <dcterms:modified xsi:type="dcterms:W3CDTF">2026-05-03T21:21:01Z</dcterms:modified>
</cp:coreProperties>
</file>